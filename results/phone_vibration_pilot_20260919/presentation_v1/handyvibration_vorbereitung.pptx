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Fassung verwendet ausschließlich die abgeschlossenen technischen Kurztests vom 19.09.2026. Reale Anrufversuche wurden inzwischen begonnen; diese separate Vorbereitungsfassung wertet sie nicht aus. Sie enthält keine Resultate eines Handy-Anrufversuchs. Eine externe Handyvibration ist eine gezielt eingebrachte Störung, kein Nachweis eines echten Lüfterdefekts. Quellen: plan.json; protocol.md; technical_checks/*/run.json. Der gewählte Betriebspunkt beträgt 75 % PWM, nicht gemessene Drehzahl.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ein Anruf je Methode, insgesamt drei Anrufe. Vorlauf mindestens 30 s, Zielvibration etwa 5 s, anschließend mindestens 15 s Ruhe. Anrufsignal und Benutzerbestätigung werden separat protokolliert. Die tatsächliche Vibration kann später beginnen und anders lang dauern. Telefonposition, Befestigung, Vibrationsmuster und Klingelton aus sind vorab zu dokumentieren. Ein Ereignis pro Methode erlaubt keine belastbare allgemeine Erkennungsrate. Für exakt identische Eingaben ist Replay notwendig.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Pipeline verwendet den ADXL345 im FIFO-Betrieb. Fenstergröße und Schrittweite betragen 128. Die nominale Periode ist 128/200 = 0,64 s; Host-Lesezeitstempel sind keine direkt gemessenen Sensor-Abtastzeitpunkte. Standardisierung erfolgt mit den eingefrorenen Trainingsparametern. Im Live-Einzelbetrieb wird eine Methode ausgeführt. Das Beispiel unten zeigt echte Rohdaten des abgeschlossenen Autoencoder-Techniktests, ohne Anruf. Rohdatenquelle: sources/technical_checks/autoencoder/raw.csv. Keine Störung in diesem Bild behauptet.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Standardisierung erfolgt achsweise. Autoencoder: mittlere quadratische Abweichung zwischen Eingabe und Rekonstruktion über 384 Werte. Isolation Forest: negatives score_samples auf dem flachgelegten standardisierten Fenster. RMS: Wurzel des mittleren Quadrats des standardisierten Fensters. P99 bedeutet 99. Perzentil der normalen Validierungsscores, nicht 99 % Genauigkeit. Der AE-Schwellwert ist aus der eingefrorenen Keras-Kalibrierung übernommen, die anderen aus dem Vergleichsbündel. Es gibt 97 Validierungsfenster; die AE-Validierung wurde zusätzlich zur Trainingsüberwachung/Early Stopping verwendet, kein eigener dritter Kalibrierungssplit. Quelle: bundle/bundle.json, plan.json und archivierte Vergleichsimplementierung.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Jedes Teilbild zeigt einen anderen technischen Test. Für bessere Lesbarkeit sind Scores durch die jeweils eigene positive Schwelle geteilt. Der Wert 1 markiert diese Schwelle. Die Division liefert keine kalibrierte Wahrscheinlichkeit und erlaubt keine Aussage über gleiche Sensitivität. Alle 12 vollständigen Fenster sind gültig und als normal klassifiziert. Das belegt die Funktionsfähigkeit der Pipeline in diesen kurzen Aufnahmen, keine getestete Fehlererkennung oder Fehlalarmrate. Quellen: technical_checks/*/decisions.csv und summary.json.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processing_ms misst laut archiviertem Erfassungscode Standardisierung plus Scoreberechnung und Klassifikation nach Entnahme des Fensters. Es ist weder reine Modell-Inferenz noch physische Fehlererkennungsverzögerung. CPU und RAM gelten für den gesamten Einzelprozess einschließlich Sensorerfassung und Logging. CPU 100 % entspricht einem Kern. RAM sind abgetastete RSS-Werte während des Laufs, nicht der Gesamtstart-Peak. Die technischen Tests wurden nacheinander und teils mit unterschiedlichen Codeversionen durchgeführt; vier Fenster sind kein seriöser Benchmark. Keine Rangfolge der Methodenqualität aus dieser Folie ziehen. Quellen: decisions.csv; run.json.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Cue-Zeitstempel dokumentieren die Interaktion, nicht den Vibrationsmotor des Telefons. Ein erster Alarm relativ zu einer Aufforderung wäre nur ein deskriptiver Cue-Abstand. Physischer Beginn und Ende müssen separat markiert oder gemessen werden; eine nachträgliche Schätzung aus demselben Signal ist als Schätzung zu kennzeichnen. Beim Replay derselben Aufnahme kann man bereits das erste Alarmfenster vergleichen, ohne exakte echte Latenz zu behaupten. Gleiches Fenster bedeutet Gleichstand auf Fensterauflösung. Anrufverzögerung und Fenstertakt dürfen nicht als Modellzeit fehlinterpretiert werden.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abgebildete Screenshot wurde tatsächlich mit Chromium aus evidence_report.html aufgenommen. Er zeigt nur den hier erzeugten lokalen Bericht; weder Desktop noch private Anwendungen wurden aufgenommen. Rohdaten und Metadaten liegen als eingefrorene Kopien im sources-Verzeichnis. source_manifest.json enthält SHA-256-Hashes; browser_capture.json dokumentiert Zeitpunkt, Quelle und Screenshot-Hash. Die übrigen Diagramme sind aus CSV erzeugte Exporte und werden nicht als Screenshots bezeichnet. Ein Foto der physischen Handyposition ist weiterhin nicht vorhanden.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Kalibrierungsdaten stammen aus dem bisherigen Standlaufprofil bei 75 % PWM. Ein angebrachtes Handy verändert möglicherweise die mechanische Ankopplung; der endgültige Aufbau ist noch nicht bestätigt. Das Bundle trägt measurement_chain_status=unverified_legacy, weshalb hier kein abschließend validiertes Messsystem behauptet wird. Normaldaten für Aufbaukontrolle und ggf. neue Kalibrierung sind vor den bewerteten Tests notwendig. Ein einziger Anruf pro Methode ist ein Pilot, kein Zuverlässigkeitsnachweis. Externe Tischvibrationen sind keine echten Lüfterdefekte.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 nächstes Aufbau dokumentieren und Normalzustand prüfen. Bei verändertem mechanischem Aufbau neue Normaldaten aufnehmen und Kalibrierung erneuern. Dann jeden Einzelprozess separat aufnehmen, Aufforderung, Anrufbestätigung und Ende protokollieren, Rohdaten und Fehler erhalten. Tatsächliche physische Zeitreferenz ist für Latenz nötig. Danach gleiche Aufnahme für alle Methoden auswerten. Ressourcenbenchmark separat mit fester Umgebung, Aufwärmphase, ausreichend langer Laufzeit und Wiederholungen durchführen. Ergebnisse der Pilotversuche werden in einer neuen Präsentationsversion ergänzt; diese Version bleibt als Vorbereitungsevidenz unverändert.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FORSCHUNGSFRAGE</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Wie früh erkennen drei Methoden eine Vibration?</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Versuchsplanung und technische Vorbereitung für einen Vergleich auf dem Raspberry Pi 5.</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01</a:t>
            </a:r>
          </a:p>
        </p:txBody>
      </p:sp>
      <p:sp>
        <p:nvSpPr>
          <p:cNvPr id="7" name="Rounded Rectangle 6"/>
          <p:cNvSpPr/>
          <p:nvPr/>
        </p:nvSpPr>
        <p:spPr>
          <a:xfrm>
            <a:off x="502920" y="2286000"/>
            <a:ext cx="6629400"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06040"/>
            <a:ext cx="5943600" cy="987552"/>
          </a:xfrm>
          <a:prstGeom prst="rect">
            <a:avLst/>
          </a:prstGeom>
          <a:noFill/>
        </p:spPr>
        <p:txBody>
          <a:bodyPr wrap="square" lIns="13716" rIns="13716" tIns="9144" bIns="9144">
            <a:spAutoFit/>
          </a:bodyPr>
          <a:lstStyle/>
          <a:p>
            <a:pPr>
              <a:spcAft>
                <a:spcPts val="800"/>
              </a:spcAft>
              <a:defRPr sz="2700" b="1">
                <a:solidFill>
                  <a:srgbClr val="142D42"/>
                </a:solidFill>
                <a:latin typeface="DejaVu Sans"/>
              </a:defRPr>
            </a:pPr>
            <a:r>
              <a:t>Erkennung und Ressourcen</a:t>
            </a:r>
          </a:p>
          <a:p>
            <a:pPr>
              <a:spcAft>
                <a:spcPts val="800"/>
              </a:spcAft>
              <a:defRPr sz="2700" b="1">
                <a:solidFill>
                  <a:srgbClr val="142D42"/>
                </a:solidFill>
                <a:latin typeface="DejaVu Sans"/>
              </a:defRPr>
            </a:pPr>
            <a:r>
              <a:t>gemeinsam bewerten</a:t>
            </a:r>
          </a:p>
        </p:txBody>
      </p:sp>
      <p:sp>
        <p:nvSpPr>
          <p:cNvPr id="9" name="TextBox 8"/>
          <p:cNvSpPr txBox="1"/>
          <p:nvPr/>
        </p:nvSpPr>
        <p:spPr>
          <a:xfrm>
            <a:off x="822960" y="3794760"/>
            <a:ext cx="5715000" cy="1481328"/>
          </a:xfrm>
          <a:prstGeom prst="rect">
            <a:avLst/>
          </a:prstGeom>
          <a:noFill/>
        </p:spPr>
        <p:txBody>
          <a:bodyPr wrap="square" lIns="13716" rIns="13716" tIns="9144" bIns="9144">
            <a:spAutoFit/>
          </a:bodyPr>
          <a:lstStyle/>
          <a:p>
            <a:pPr>
              <a:spcAft>
                <a:spcPts val="800"/>
              </a:spcAft>
              <a:defRPr sz="2100" b="0">
                <a:solidFill>
                  <a:srgbClr val="142D42"/>
                </a:solidFill>
                <a:latin typeface="DejaVu Sans"/>
              </a:defRPr>
            </a:pPr>
            <a:r>
              <a:t>Autoencoder · Isolation Forest · RMS</a:t>
            </a:r>
          </a:p>
          <a:p>
            <a:pPr>
              <a:spcAft>
                <a:spcPts val="800"/>
              </a:spcAft>
              <a:defRPr sz="2100" b="0">
                <a:solidFill>
                  <a:srgbClr val="142D42"/>
                </a:solidFill>
                <a:latin typeface="DejaVu Sans"/>
              </a:defRPr>
            </a:pPr>
            <a:r>
              <a:t>Einzelbetrieb je Methode</a:t>
            </a:r>
          </a:p>
          <a:p>
            <a:pPr>
              <a:spcAft>
                <a:spcPts val="800"/>
              </a:spcAft>
              <a:defRPr sz="2100" b="0">
                <a:solidFill>
                  <a:srgbClr val="142D42"/>
                </a:solidFill>
                <a:latin typeface="DejaVu Sans"/>
              </a:defRPr>
            </a:pPr>
            <a:r>
              <a:t>Rohdaten, Entscheidungen und Systemwerte archivieren</a:t>
            </a:r>
          </a:p>
        </p:txBody>
      </p:sp>
      <p:sp>
        <p:nvSpPr>
          <p:cNvPr id="10" name="Rounded Rectangle 9"/>
          <p:cNvSpPr/>
          <p:nvPr/>
        </p:nvSpPr>
        <p:spPr>
          <a:xfrm>
            <a:off x="7406640" y="2286000"/>
            <a:ext cx="4279392" cy="1033271"/>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2395728"/>
            <a:ext cx="1371600" cy="594360"/>
          </a:xfrm>
          <a:prstGeom prst="rect">
            <a:avLst/>
          </a:prstGeom>
          <a:noFill/>
        </p:spPr>
        <p:txBody>
          <a:bodyPr wrap="square" lIns="13716" rIns="13716" tIns="9144" bIns="9144">
            <a:spAutoFit/>
          </a:bodyPr>
          <a:lstStyle/>
          <a:p>
            <a:pPr>
              <a:spcAft>
                <a:spcPts val="800"/>
              </a:spcAft>
              <a:defRPr sz="2900" b="1">
                <a:solidFill>
                  <a:srgbClr val="007F86"/>
                </a:solidFill>
                <a:latin typeface="DejaVu Sans"/>
              </a:defRPr>
            </a:pPr>
            <a:r>
              <a:t>3</a:t>
            </a:r>
          </a:p>
        </p:txBody>
      </p:sp>
      <p:sp>
        <p:nvSpPr>
          <p:cNvPr id="12" name="TextBox 11"/>
          <p:cNvSpPr txBox="1"/>
          <p:nvPr/>
        </p:nvSpPr>
        <p:spPr>
          <a:xfrm>
            <a:off x="9144000" y="2432304"/>
            <a:ext cx="2286000" cy="694944"/>
          </a:xfrm>
          <a:prstGeom prst="rect">
            <a:avLst/>
          </a:prstGeom>
          <a:noFill/>
        </p:spPr>
        <p:txBody>
          <a:bodyPr wrap="square" lIns="13716" rIns="13716" tIns="9144" bIns="9144">
            <a:spAutoFit/>
          </a:bodyPr>
          <a:lstStyle/>
          <a:p>
            <a:pPr>
              <a:spcAft>
                <a:spcPts val="800"/>
              </a:spcAft>
              <a:defRPr sz="1500" b="0">
                <a:solidFill>
                  <a:srgbClr val="142D42"/>
                </a:solidFill>
                <a:latin typeface="DejaVu Sans"/>
              </a:defRPr>
            </a:pPr>
            <a:r>
              <a:t>Methoden</a:t>
            </a:r>
          </a:p>
        </p:txBody>
      </p:sp>
      <p:sp>
        <p:nvSpPr>
          <p:cNvPr id="13" name="Rounded Rectangle 12"/>
          <p:cNvSpPr/>
          <p:nvPr/>
        </p:nvSpPr>
        <p:spPr>
          <a:xfrm>
            <a:off x="7406640" y="3493008"/>
            <a:ext cx="4279392" cy="1033271"/>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3602736"/>
            <a:ext cx="1371600" cy="594360"/>
          </a:xfrm>
          <a:prstGeom prst="rect">
            <a:avLst/>
          </a:prstGeom>
          <a:noFill/>
        </p:spPr>
        <p:txBody>
          <a:bodyPr wrap="square" lIns="13716" rIns="13716" tIns="9144" bIns="9144">
            <a:spAutoFit/>
          </a:bodyPr>
          <a:lstStyle/>
          <a:p>
            <a:pPr>
              <a:spcAft>
                <a:spcPts val="800"/>
              </a:spcAft>
              <a:defRPr sz="2900" b="1">
                <a:solidFill>
                  <a:srgbClr val="007F86"/>
                </a:solidFill>
                <a:latin typeface="DejaVu Sans"/>
              </a:defRPr>
            </a:pPr>
            <a:r>
              <a:t>75 %</a:t>
            </a:r>
          </a:p>
        </p:txBody>
      </p:sp>
      <p:sp>
        <p:nvSpPr>
          <p:cNvPr id="15" name="TextBox 14"/>
          <p:cNvSpPr txBox="1"/>
          <p:nvPr/>
        </p:nvSpPr>
        <p:spPr>
          <a:xfrm>
            <a:off x="9144000" y="3639312"/>
            <a:ext cx="2286000" cy="694944"/>
          </a:xfrm>
          <a:prstGeom prst="rect">
            <a:avLst/>
          </a:prstGeom>
          <a:noFill/>
        </p:spPr>
        <p:txBody>
          <a:bodyPr wrap="square" lIns="13716" rIns="13716" tIns="9144" bIns="9144">
            <a:spAutoFit/>
          </a:bodyPr>
          <a:lstStyle/>
          <a:p>
            <a:pPr>
              <a:spcAft>
                <a:spcPts val="800"/>
              </a:spcAft>
              <a:defRPr sz="1500" b="0">
                <a:solidFill>
                  <a:srgbClr val="142D42"/>
                </a:solidFill>
                <a:latin typeface="DejaVu Sans"/>
              </a:defRPr>
            </a:pPr>
            <a:r>
              <a:t>PWM-Betriebspunkt</a:t>
            </a:r>
          </a:p>
        </p:txBody>
      </p:sp>
      <p:sp>
        <p:nvSpPr>
          <p:cNvPr id="16" name="Rounded Rectangle 15"/>
          <p:cNvSpPr/>
          <p:nvPr/>
        </p:nvSpPr>
        <p:spPr>
          <a:xfrm>
            <a:off x="7406640" y="4700016"/>
            <a:ext cx="4279392" cy="1033271"/>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4809744"/>
            <a:ext cx="1371600" cy="594360"/>
          </a:xfrm>
          <a:prstGeom prst="rect">
            <a:avLst/>
          </a:prstGeom>
          <a:noFill/>
        </p:spPr>
        <p:txBody>
          <a:bodyPr wrap="square" lIns="13716" rIns="13716" tIns="9144" bIns="9144">
            <a:spAutoFit/>
          </a:bodyPr>
          <a:lstStyle/>
          <a:p>
            <a:pPr>
              <a:spcAft>
                <a:spcPts val="800"/>
              </a:spcAft>
              <a:defRPr sz="2900" b="1">
                <a:solidFill>
                  <a:srgbClr val="007F86"/>
                </a:solidFill>
                <a:latin typeface="DejaVu Sans"/>
              </a:defRPr>
            </a:pPr>
            <a:r>
              <a:t>0</a:t>
            </a:r>
          </a:p>
        </p:txBody>
      </p:sp>
      <p:sp>
        <p:nvSpPr>
          <p:cNvPr id="18" name="TextBox 17"/>
          <p:cNvSpPr txBox="1"/>
          <p:nvPr/>
        </p:nvSpPr>
        <p:spPr>
          <a:xfrm>
            <a:off x="9144000" y="4846320"/>
            <a:ext cx="2286000" cy="694944"/>
          </a:xfrm>
          <a:prstGeom prst="rect">
            <a:avLst/>
          </a:prstGeom>
          <a:noFill/>
        </p:spPr>
        <p:txBody>
          <a:bodyPr wrap="square" lIns="13716" rIns="13716" tIns="9144" bIns="9144">
            <a:spAutoFit/>
          </a:bodyPr>
          <a:lstStyle/>
          <a:p>
            <a:pPr>
              <a:spcAft>
                <a:spcPts val="800"/>
              </a:spcAft>
              <a:defRPr sz="1500" b="0">
                <a:solidFill>
                  <a:srgbClr val="142D42"/>
                </a:solidFill>
                <a:latin typeface="DejaVu Sans"/>
              </a:defRPr>
            </a:pPr>
            <a:r>
              <a:t>Anrufversuche in diesen Quellen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VERSUCHSDESIGN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Ein Anruf pro Methode: zunächst ein Pilotversuch</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Gleicher Aufbau, gleiche Einstellungen; die drei Live-Anrufe bleiben physisch unterschiedliche Ereignisse.</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02</a:t>
            </a:r>
          </a:p>
        </p:txBody>
      </p:sp>
      <p:sp>
        <p:nvSpPr>
          <p:cNvPr id="7" name="Rounded Rectangle 6"/>
          <p:cNvSpPr/>
          <p:nvPr/>
        </p:nvSpPr>
        <p:spPr>
          <a:xfrm>
            <a:off x="502920" y="2423160"/>
            <a:ext cx="2651760" cy="20391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33472"/>
            <a:ext cx="2286000" cy="320040"/>
          </a:xfrm>
          <a:prstGeom prst="rect">
            <a:avLst/>
          </a:prstGeom>
          <a:noFill/>
        </p:spPr>
        <p:txBody>
          <a:bodyPr wrap="square" lIns="13716" rIns="13716" tIns="9144" bIns="9144">
            <a:spAutoFit/>
          </a:bodyPr>
          <a:lstStyle/>
          <a:p>
            <a:pPr>
              <a:spcAft>
                <a:spcPts val="800"/>
              </a:spcAft>
              <a:defRPr sz="1400" b="1">
                <a:solidFill>
                  <a:srgbClr val="007F86"/>
                </a:solidFill>
                <a:latin typeface="DejaVu Sans"/>
              </a:defRPr>
            </a:pPr>
            <a:r>
              <a:t>01</a:t>
            </a:r>
          </a:p>
        </p:txBody>
      </p:sp>
      <p:sp>
        <p:nvSpPr>
          <p:cNvPr id="9" name="TextBox 8"/>
          <p:cNvSpPr txBox="1"/>
          <p:nvPr/>
        </p:nvSpPr>
        <p:spPr>
          <a:xfrm>
            <a:off x="685800" y="3127248"/>
            <a:ext cx="2286000" cy="438912"/>
          </a:xfrm>
          <a:prstGeom prst="rect">
            <a:avLst/>
          </a:prstGeom>
          <a:noFill/>
        </p:spPr>
        <p:txBody>
          <a:bodyPr wrap="square" lIns="13716" rIns="13716" tIns="9144" bIns="9144">
            <a:spAutoFit/>
          </a:bodyPr>
          <a:lstStyle/>
          <a:p>
            <a:pPr>
              <a:spcAft>
                <a:spcPts val="800"/>
              </a:spcAft>
              <a:defRPr sz="2000" b="1">
                <a:solidFill>
                  <a:srgbClr val="142D42"/>
                </a:solidFill>
                <a:latin typeface="DejaVu Sans"/>
              </a:defRPr>
            </a:pPr>
            <a:r>
              <a:t>Normalphase</a:t>
            </a:r>
          </a:p>
        </p:txBody>
      </p:sp>
      <p:sp>
        <p:nvSpPr>
          <p:cNvPr id="10" name="TextBox 9"/>
          <p:cNvSpPr txBox="1"/>
          <p:nvPr/>
        </p:nvSpPr>
        <p:spPr>
          <a:xfrm>
            <a:off x="685800" y="3712463"/>
            <a:ext cx="2286000" cy="640080"/>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 30 s</a:t>
            </a:r>
          </a:p>
          <a:p>
            <a:pPr>
              <a:spcAft>
                <a:spcPts val="800"/>
              </a:spcAft>
              <a:defRPr sz="1600" b="0">
                <a:solidFill>
                  <a:srgbClr val="142D42"/>
                </a:solidFill>
                <a:latin typeface="DejaVu Sans"/>
              </a:defRPr>
            </a:pPr>
            <a:r>
              <a:t>Handy liegt ruhig</a:t>
            </a:r>
          </a:p>
        </p:txBody>
      </p:sp>
      <p:sp>
        <p:nvSpPr>
          <p:cNvPr id="11" name="Rounded Rectangle 10"/>
          <p:cNvSpPr/>
          <p:nvPr/>
        </p:nvSpPr>
        <p:spPr>
          <a:xfrm>
            <a:off x="3337560" y="2423160"/>
            <a:ext cx="2651760" cy="20391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2633472"/>
            <a:ext cx="2286000" cy="320040"/>
          </a:xfrm>
          <a:prstGeom prst="rect">
            <a:avLst/>
          </a:prstGeom>
          <a:noFill/>
        </p:spPr>
        <p:txBody>
          <a:bodyPr wrap="square" lIns="13716" rIns="13716" tIns="9144" bIns="9144">
            <a:spAutoFit/>
          </a:bodyPr>
          <a:lstStyle/>
          <a:p>
            <a:pPr>
              <a:spcAft>
                <a:spcPts val="800"/>
              </a:spcAft>
              <a:defRPr sz="1400" b="1">
                <a:solidFill>
                  <a:srgbClr val="007F86"/>
                </a:solidFill>
                <a:latin typeface="DejaVu Sans"/>
              </a:defRPr>
            </a:pPr>
            <a:r>
              <a:t>02</a:t>
            </a:r>
          </a:p>
        </p:txBody>
      </p:sp>
      <p:sp>
        <p:nvSpPr>
          <p:cNvPr id="13" name="TextBox 12"/>
          <p:cNvSpPr txBox="1"/>
          <p:nvPr/>
        </p:nvSpPr>
        <p:spPr>
          <a:xfrm>
            <a:off x="3520440" y="3127248"/>
            <a:ext cx="2286000" cy="438912"/>
          </a:xfrm>
          <a:prstGeom prst="rect">
            <a:avLst/>
          </a:prstGeom>
          <a:noFill/>
        </p:spPr>
        <p:txBody>
          <a:bodyPr wrap="square" lIns="13716" rIns="13716" tIns="9144" bIns="9144">
            <a:spAutoFit/>
          </a:bodyPr>
          <a:lstStyle/>
          <a:p>
            <a:pPr>
              <a:spcAft>
                <a:spcPts val="800"/>
              </a:spcAft>
              <a:defRPr sz="2000" b="1">
                <a:solidFill>
                  <a:srgbClr val="142D42"/>
                </a:solidFill>
                <a:latin typeface="DejaVu Sans"/>
              </a:defRPr>
            </a:pPr>
            <a:r>
              <a:t>Bestätigung</a:t>
            </a:r>
          </a:p>
        </p:txBody>
      </p:sp>
      <p:sp>
        <p:nvSpPr>
          <p:cNvPr id="14" name="TextBox 13"/>
          <p:cNvSpPr txBox="1"/>
          <p:nvPr/>
        </p:nvSpPr>
        <p:spPr>
          <a:xfrm>
            <a:off x="3520440" y="3712463"/>
            <a:ext cx="2286000" cy="640080"/>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Auf Aufforderung</a:t>
            </a:r>
          </a:p>
          <a:p>
            <a:pPr>
              <a:spcAft>
                <a:spcPts val="800"/>
              </a:spcAft>
              <a:defRPr sz="1600" b="0">
                <a:solidFill>
                  <a:srgbClr val="142D42"/>
                </a:solidFill>
                <a:latin typeface="DejaVu Sans"/>
              </a:defRPr>
            </a:pPr>
            <a:r>
              <a:t>Anruf ankündigen</a:t>
            </a:r>
          </a:p>
        </p:txBody>
      </p:sp>
      <p:sp>
        <p:nvSpPr>
          <p:cNvPr id="15" name="Rounded Rectangle 14"/>
          <p:cNvSpPr/>
          <p:nvPr/>
        </p:nvSpPr>
        <p:spPr>
          <a:xfrm>
            <a:off x="6172200" y="2423160"/>
            <a:ext cx="2651760" cy="20391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633472"/>
            <a:ext cx="2286000" cy="320040"/>
          </a:xfrm>
          <a:prstGeom prst="rect">
            <a:avLst/>
          </a:prstGeom>
          <a:noFill/>
        </p:spPr>
        <p:txBody>
          <a:bodyPr wrap="square" lIns="13716" rIns="13716" tIns="9144" bIns="9144">
            <a:spAutoFit/>
          </a:bodyPr>
          <a:lstStyle/>
          <a:p>
            <a:pPr>
              <a:spcAft>
                <a:spcPts val="800"/>
              </a:spcAft>
              <a:defRPr sz="1400" b="1">
                <a:solidFill>
                  <a:srgbClr val="007F86"/>
                </a:solidFill>
                <a:latin typeface="DejaVu Sans"/>
              </a:defRPr>
            </a:pPr>
            <a:r>
              <a:t>03</a:t>
            </a:r>
          </a:p>
        </p:txBody>
      </p:sp>
      <p:sp>
        <p:nvSpPr>
          <p:cNvPr id="17" name="TextBox 16"/>
          <p:cNvSpPr txBox="1"/>
          <p:nvPr/>
        </p:nvSpPr>
        <p:spPr>
          <a:xfrm>
            <a:off x="6355080" y="3127248"/>
            <a:ext cx="2286000" cy="438912"/>
          </a:xfrm>
          <a:prstGeom prst="rect">
            <a:avLst/>
          </a:prstGeom>
          <a:noFill/>
        </p:spPr>
        <p:txBody>
          <a:bodyPr wrap="square" lIns="13716" rIns="13716" tIns="9144" bIns="9144">
            <a:spAutoFit/>
          </a:bodyPr>
          <a:lstStyle/>
          <a:p>
            <a:pPr>
              <a:spcAft>
                <a:spcPts val="800"/>
              </a:spcAft>
              <a:defRPr sz="2000" b="1">
                <a:solidFill>
                  <a:srgbClr val="142D42"/>
                </a:solidFill>
                <a:latin typeface="DejaVu Sans"/>
              </a:defRPr>
            </a:pPr>
            <a:r>
              <a:t>Vibration</a:t>
            </a:r>
          </a:p>
        </p:txBody>
      </p:sp>
      <p:sp>
        <p:nvSpPr>
          <p:cNvPr id="18" name="TextBox 17"/>
          <p:cNvSpPr txBox="1"/>
          <p:nvPr/>
        </p:nvSpPr>
        <p:spPr>
          <a:xfrm>
            <a:off x="6355080" y="3712463"/>
            <a:ext cx="2286000" cy="640080"/>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Ziel: etwa 5 s</a:t>
            </a:r>
          </a:p>
          <a:p>
            <a:pPr>
              <a:spcAft>
                <a:spcPts val="800"/>
              </a:spcAft>
              <a:defRPr sz="1600" b="0">
                <a:solidFill>
                  <a:srgbClr val="142D42"/>
                </a:solidFill>
                <a:latin typeface="DejaVu Sans"/>
              </a:defRPr>
            </a:pPr>
            <a:r>
              <a:t>ein Anruf</a:t>
            </a:r>
          </a:p>
        </p:txBody>
      </p:sp>
      <p:sp>
        <p:nvSpPr>
          <p:cNvPr id="19" name="Rounded Rectangle 18"/>
          <p:cNvSpPr/>
          <p:nvPr/>
        </p:nvSpPr>
        <p:spPr>
          <a:xfrm>
            <a:off x="9006840" y="2423160"/>
            <a:ext cx="2651760" cy="20391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2633472"/>
            <a:ext cx="2286000" cy="320040"/>
          </a:xfrm>
          <a:prstGeom prst="rect">
            <a:avLst/>
          </a:prstGeom>
          <a:noFill/>
        </p:spPr>
        <p:txBody>
          <a:bodyPr wrap="square" lIns="13716" rIns="13716" tIns="9144" bIns="9144">
            <a:spAutoFit/>
          </a:bodyPr>
          <a:lstStyle/>
          <a:p>
            <a:pPr>
              <a:spcAft>
                <a:spcPts val="800"/>
              </a:spcAft>
              <a:defRPr sz="1400" b="1">
                <a:solidFill>
                  <a:srgbClr val="007F86"/>
                </a:solidFill>
                <a:latin typeface="DejaVu Sans"/>
              </a:defRPr>
            </a:pPr>
            <a:r>
              <a:t>04</a:t>
            </a:r>
          </a:p>
        </p:txBody>
      </p:sp>
      <p:sp>
        <p:nvSpPr>
          <p:cNvPr id="21" name="TextBox 20"/>
          <p:cNvSpPr txBox="1"/>
          <p:nvPr/>
        </p:nvSpPr>
        <p:spPr>
          <a:xfrm>
            <a:off x="9189720" y="3127248"/>
            <a:ext cx="2286000" cy="438912"/>
          </a:xfrm>
          <a:prstGeom prst="rect">
            <a:avLst/>
          </a:prstGeom>
          <a:noFill/>
        </p:spPr>
        <p:txBody>
          <a:bodyPr wrap="square" lIns="13716" rIns="13716" tIns="9144" bIns="9144">
            <a:spAutoFit/>
          </a:bodyPr>
          <a:lstStyle/>
          <a:p>
            <a:pPr>
              <a:spcAft>
                <a:spcPts val="800"/>
              </a:spcAft>
              <a:defRPr sz="2000" b="1">
                <a:solidFill>
                  <a:srgbClr val="142D42"/>
                </a:solidFill>
                <a:latin typeface="DejaVu Sans"/>
              </a:defRPr>
            </a:pPr>
            <a:r>
              <a:t>Nachlauf</a:t>
            </a:r>
          </a:p>
        </p:txBody>
      </p:sp>
      <p:sp>
        <p:nvSpPr>
          <p:cNvPr id="22" name="TextBox 21"/>
          <p:cNvSpPr txBox="1"/>
          <p:nvPr/>
        </p:nvSpPr>
        <p:spPr>
          <a:xfrm>
            <a:off x="9189720" y="3712463"/>
            <a:ext cx="2286000" cy="640080"/>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 15 s</a:t>
            </a:r>
          </a:p>
          <a:p>
            <a:pPr>
              <a:spcAft>
                <a:spcPts val="800"/>
              </a:spcAft>
              <a:defRPr sz="1600" b="0">
                <a:solidFill>
                  <a:srgbClr val="142D42"/>
                </a:solidFill>
                <a:latin typeface="DejaVu Sans"/>
              </a:defRPr>
            </a:pPr>
            <a:r>
              <a:t>Ende protokollieren</a:t>
            </a:r>
          </a:p>
        </p:txBody>
      </p:sp>
      <p:sp>
        <p:nvSpPr>
          <p:cNvPr id="23" name="Rounded Rectangle 22"/>
          <p:cNvSpPr/>
          <p:nvPr/>
        </p:nvSpPr>
        <p:spPr>
          <a:xfrm>
            <a:off x="502920" y="4846320"/>
            <a:ext cx="11155680" cy="1097280"/>
          </a:xfrm>
          <a:prstGeom prst="roundRect">
            <a:avLst>
              <a:gd name="adj" fmla="val 10000"/>
            </a:avLst>
          </a:prstGeom>
          <a:solidFill>
            <a:srgbClr val="FFF1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5029200"/>
            <a:ext cx="10652760" cy="749808"/>
          </a:xfrm>
          <a:prstGeom prst="rect">
            <a:avLst/>
          </a:prstGeom>
          <a:noFill/>
        </p:spPr>
        <p:txBody>
          <a:bodyPr wrap="square" lIns="13716" rIns="13716" tIns="9144" bIns="9144">
            <a:spAutoFit/>
          </a:bodyPr>
          <a:lstStyle/>
          <a:p>
            <a:pPr>
              <a:spcAft>
                <a:spcPts val="800"/>
              </a:spcAft>
              <a:defRPr sz="1800" b="0">
                <a:solidFill>
                  <a:srgbClr val="142D42"/>
                </a:solidFill>
                <a:latin typeface="DejaVu Sans"/>
              </a:defRPr>
            </a:pPr>
            <a:r>
              <a:t>Fairer Methodenvergleich: gespeicherte Aufnahme später allen Methoden identisch vorspielen.</a:t>
            </a:r>
          </a:p>
          <a:p>
            <a:pPr>
              <a:spcAft>
                <a:spcPts val="800"/>
              </a:spcAft>
              <a:defRPr sz="1800" b="0">
                <a:solidFill>
                  <a:srgbClr val="142D42"/>
                </a:solidFill>
                <a:latin typeface="DejaVu Sans"/>
              </a:defRPr>
            </a:pPr>
            <a:r>
              <a:t>Die Live-Einzelversuche prüfen zusätzlich den tatsächlichen Betrieb auf dem Pi.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DATENFLUSS</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Gemeinsame Messkette, eine aktive Methode</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ADXL345 · nominal 200 Hz · 128 × 3 Werte pro Fenster · nominale Fensterperiode 0,64 s.</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03</a:t>
            </a:r>
          </a:p>
        </p:txBody>
      </p:sp>
      <p:sp>
        <p:nvSpPr>
          <p:cNvPr id="7" name="Rounded Rectangle 6"/>
          <p:cNvSpPr/>
          <p:nvPr/>
        </p:nvSpPr>
        <p:spPr>
          <a:xfrm>
            <a:off x="502920" y="2258568"/>
            <a:ext cx="2057400" cy="9418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395728"/>
            <a:ext cx="1810512" cy="347472"/>
          </a:xfrm>
          <a:prstGeom prst="rect">
            <a:avLst/>
          </a:prstGeom>
          <a:noFill/>
        </p:spPr>
        <p:txBody>
          <a:bodyPr wrap="square" lIns="13716" rIns="13716" tIns="9144" bIns="9144">
            <a:spAutoFit/>
          </a:bodyPr>
          <a:lstStyle/>
          <a:p>
            <a:pPr>
              <a:spcAft>
                <a:spcPts val="800"/>
              </a:spcAft>
              <a:defRPr sz="1800" b="1">
                <a:solidFill>
                  <a:srgbClr val="142D42"/>
                </a:solidFill>
                <a:latin typeface="DejaVu Sans"/>
              </a:defRPr>
            </a:pPr>
            <a:r>
              <a:t>Sensor</a:t>
            </a:r>
          </a:p>
        </p:txBody>
      </p:sp>
      <p:sp>
        <p:nvSpPr>
          <p:cNvPr id="9" name="TextBox 8"/>
          <p:cNvSpPr txBox="1"/>
          <p:nvPr/>
        </p:nvSpPr>
        <p:spPr>
          <a:xfrm>
            <a:off x="621792" y="2807208"/>
            <a:ext cx="1810512" cy="274320"/>
          </a:xfrm>
          <a:prstGeom prst="rect">
            <a:avLst/>
          </a:prstGeom>
          <a:noFill/>
        </p:spPr>
        <p:txBody>
          <a:bodyPr wrap="square" lIns="13716" rIns="13716" tIns="9144" bIns="9144">
            <a:spAutoFit/>
          </a:bodyPr>
          <a:lstStyle/>
          <a:p>
            <a:pPr>
              <a:spcAft>
                <a:spcPts val="800"/>
              </a:spcAft>
              <a:defRPr sz="1200" b="0">
                <a:solidFill>
                  <a:srgbClr val="587084"/>
                </a:solidFill>
                <a:latin typeface="DejaVu Sans"/>
              </a:defRPr>
            </a:pPr>
            <a:r>
              <a:t>x, y, z in g</a:t>
            </a:r>
          </a:p>
        </p:txBody>
      </p:sp>
      <p:sp>
        <p:nvSpPr>
          <p:cNvPr id="10" name="TextBox 9"/>
          <p:cNvSpPr txBox="1"/>
          <p:nvPr/>
        </p:nvSpPr>
        <p:spPr>
          <a:xfrm>
            <a:off x="2587752" y="2587752"/>
            <a:ext cx="228600" cy="347472"/>
          </a:xfrm>
          <a:prstGeom prst="rect">
            <a:avLst/>
          </a:prstGeom>
          <a:noFill/>
        </p:spPr>
        <p:txBody>
          <a:bodyPr wrap="square" lIns="13716" rIns="13716" tIns="9144" bIns="9144">
            <a:spAutoFit/>
          </a:bodyPr>
          <a:lstStyle/>
          <a:p>
            <a:pPr>
              <a:spcAft>
                <a:spcPts val="800"/>
              </a:spcAft>
              <a:defRPr sz="1700" b="0">
                <a:solidFill>
                  <a:srgbClr val="007F86"/>
                </a:solidFill>
                <a:latin typeface="DejaVu Sans"/>
              </a:defRPr>
            </a:pPr>
            <a:r>
              <a:t>→</a:t>
            </a:r>
          </a:p>
        </p:txBody>
      </p:sp>
      <p:sp>
        <p:nvSpPr>
          <p:cNvPr id="11" name="Rounded Rectangle 10"/>
          <p:cNvSpPr/>
          <p:nvPr/>
        </p:nvSpPr>
        <p:spPr>
          <a:xfrm>
            <a:off x="2761488" y="2258568"/>
            <a:ext cx="2057400" cy="9418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80360" y="2395728"/>
            <a:ext cx="1810512" cy="347472"/>
          </a:xfrm>
          <a:prstGeom prst="rect">
            <a:avLst/>
          </a:prstGeom>
          <a:noFill/>
        </p:spPr>
        <p:txBody>
          <a:bodyPr wrap="square" lIns="13716" rIns="13716" tIns="9144" bIns="9144">
            <a:spAutoFit/>
          </a:bodyPr>
          <a:lstStyle/>
          <a:p>
            <a:pPr>
              <a:spcAft>
                <a:spcPts val="800"/>
              </a:spcAft>
              <a:defRPr sz="1800" b="1">
                <a:solidFill>
                  <a:srgbClr val="142D42"/>
                </a:solidFill>
                <a:latin typeface="DejaVu Sans"/>
              </a:defRPr>
            </a:pPr>
            <a:r>
              <a:t>Fenster</a:t>
            </a:r>
          </a:p>
        </p:txBody>
      </p:sp>
      <p:sp>
        <p:nvSpPr>
          <p:cNvPr id="13" name="TextBox 12"/>
          <p:cNvSpPr txBox="1"/>
          <p:nvPr/>
        </p:nvSpPr>
        <p:spPr>
          <a:xfrm>
            <a:off x="2880360" y="2807208"/>
            <a:ext cx="1810512" cy="274320"/>
          </a:xfrm>
          <a:prstGeom prst="rect">
            <a:avLst/>
          </a:prstGeom>
          <a:noFill/>
        </p:spPr>
        <p:txBody>
          <a:bodyPr wrap="square" lIns="13716" rIns="13716" tIns="9144" bIns="9144">
            <a:spAutoFit/>
          </a:bodyPr>
          <a:lstStyle/>
          <a:p>
            <a:pPr>
              <a:spcAft>
                <a:spcPts val="800"/>
              </a:spcAft>
              <a:defRPr sz="1200" b="0">
                <a:solidFill>
                  <a:srgbClr val="587084"/>
                </a:solidFill>
                <a:latin typeface="DejaVu Sans"/>
              </a:defRPr>
            </a:pPr>
            <a:r>
              <a:t>128 × 3 Werte</a:t>
            </a:r>
          </a:p>
        </p:txBody>
      </p:sp>
      <p:sp>
        <p:nvSpPr>
          <p:cNvPr id="14" name="TextBox 13"/>
          <p:cNvSpPr txBox="1"/>
          <p:nvPr/>
        </p:nvSpPr>
        <p:spPr>
          <a:xfrm>
            <a:off x="4846320" y="2587752"/>
            <a:ext cx="228600" cy="347472"/>
          </a:xfrm>
          <a:prstGeom prst="rect">
            <a:avLst/>
          </a:prstGeom>
          <a:noFill/>
        </p:spPr>
        <p:txBody>
          <a:bodyPr wrap="square" lIns="13716" rIns="13716" tIns="9144" bIns="9144">
            <a:spAutoFit/>
          </a:bodyPr>
          <a:lstStyle/>
          <a:p>
            <a:pPr>
              <a:spcAft>
                <a:spcPts val="800"/>
              </a:spcAft>
              <a:defRPr sz="1700" b="0">
                <a:solidFill>
                  <a:srgbClr val="007F86"/>
                </a:solidFill>
                <a:latin typeface="DejaVu Sans"/>
              </a:defRPr>
            </a:pPr>
            <a:r>
              <a:t>→</a:t>
            </a:r>
          </a:p>
        </p:txBody>
      </p:sp>
      <p:sp>
        <p:nvSpPr>
          <p:cNvPr id="15" name="Rounded Rectangle 14"/>
          <p:cNvSpPr/>
          <p:nvPr/>
        </p:nvSpPr>
        <p:spPr>
          <a:xfrm>
            <a:off x="5020056" y="2258568"/>
            <a:ext cx="2057400" cy="9418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2395728"/>
            <a:ext cx="1810512" cy="347472"/>
          </a:xfrm>
          <a:prstGeom prst="rect">
            <a:avLst/>
          </a:prstGeom>
          <a:noFill/>
        </p:spPr>
        <p:txBody>
          <a:bodyPr wrap="square" lIns="13716" rIns="13716" tIns="9144" bIns="9144">
            <a:spAutoFit/>
          </a:bodyPr>
          <a:lstStyle/>
          <a:p>
            <a:pPr>
              <a:spcAft>
                <a:spcPts val="800"/>
              </a:spcAft>
              <a:defRPr sz="1800" b="1">
                <a:solidFill>
                  <a:srgbClr val="142D42"/>
                </a:solidFill>
                <a:latin typeface="DejaVu Sans"/>
              </a:defRPr>
            </a:pPr>
            <a:r>
              <a:t>Skalierung</a:t>
            </a:r>
          </a:p>
        </p:txBody>
      </p:sp>
      <p:sp>
        <p:nvSpPr>
          <p:cNvPr id="17" name="TextBox 16"/>
          <p:cNvSpPr txBox="1"/>
          <p:nvPr/>
        </p:nvSpPr>
        <p:spPr>
          <a:xfrm>
            <a:off x="5138928" y="2807208"/>
            <a:ext cx="1810512" cy="274320"/>
          </a:xfrm>
          <a:prstGeom prst="rect">
            <a:avLst/>
          </a:prstGeom>
          <a:noFill/>
        </p:spPr>
        <p:txBody>
          <a:bodyPr wrap="square" lIns="13716" rIns="13716" tIns="9144" bIns="9144">
            <a:spAutoFit/>
          </a:bodyPr>
          <a:lstStyle/>
          <a:p>
            <a:pPr>
              <a:spcAft>
                <a:spcPts val="800"/>
              </a:spcAft>
              <a:defRPr sz="1200" b="0">
                <a:solidFill>
                  <a:srgbClr val="587084"/>
                </a:solidFill>
                <a:latin typeface="DejaVu Sans"/>
              </a:defRPr>
            </a:pPr>
            <a:r>
              <a:t>Trainingsparameter</a:t>
            </a:r>
          </a:p>
        </p:txBody>
      </p:sp>
      <p:sp>
        <p:nvSpPr>
          <p:cNvPr id="18" name="TextBox 17"/>
          <p:cNvSpPr txBox="1"/>
          <p:nvPr/>
        </p:nvSpPr>
        <p:spPr>
          <a:xfrm>
            <a:off x="7104888" y="2587752"/>
            <a:ext cx="228600" cy="347472"/>
          </a:xfrm>
          <a:prstGeom prst="rect">
            <a:avLst/>
          </a:prstGeom>
          <a:noFill/>
        </p:spPr>
        <p:txBody>
          <a:bodyPr wrap="square" lIns="13716" rIns="13716" tIns="9144" bIns="9144">
            <a:spAutoFit/>
          </a:bodyPr>
          <a:lstStyle/>
          <a:p>
            <a:pPr>
              <a:spcAft>
                <a:spcPts val="800"/>
              </a:spcAft>
              <a:defRPr sz="1700" b="0">
                <a:solidFill>
                  <a:srgbClr val="007F86"/>
                </a:solidFill>
                <a:latin typeface="DejaVu Sans"/>
              </a:defRPr>
            </a:pPr>
            <a:r>
              <a:t>→</a:t>
            </a:r>
          </a:p>
        </p:txBody>
      </p:sp>
      <p:sp>
        <p:nvSpPr>
          <p:cNvPr id="19" name="Rounded Rectangle 18"/>
          <p:cNvSpPr/>
          <p:nvPr/>
        </p:nvSpPr>
        <p:spPr>
          <a:xfrm>
            <a:off x="7278624" y="2258568"/>
            <a:ext cx="2057400" cy="941832"/>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7496" y="2395728"/>
            <a:ext cx="1810512" cy="347472"/>
          </a:xfrm>
          <a:prstGeom prst="rect">
            <a:avLst/>
          </a:prstGeom>
          <a:noFill/>
        </p:spPr>
        <p:txBody>
          <a:bodyPr wrap="square" lIns="13716" rIns="13716" tIns="9144" bIns="9144">
            <a:spAutoFit/>
          </a:bodyPr>
          <a:lstStyle/>
          <a:p>
            <a:pPr>
              <a:spcAft>
                <a:spcPts val="800"/>
              </a:spcAft>
              <a:defRPr sz="1800" b="1">
                <a:solidFill>
                  <a:srgbClr val="142D42"/>
                </a:solidFill>
                <a:latin typeface="DejaVu Sans"/>
              </a:defRPr>
            </a:pPr>
            <a:r>
              <a:t>Eine Methode</a:t>
            </a:r>
          </a:p>
        </p:txBody>
      </p:sp>
      <p:sp>
        <p:nvSpPr>
          <p:cNvPr id="21" name="TextBox 20"/>
          <p:cNvSpPr txBox="1"/>
          <p:nvPr/>
        </p:nvSpPr>
        <p:spPr>
          <a:xfrm>
            <a:off x="7397496" y="2807208"/>
            <a:ext cx="1810512" cy="274320"/>
          </a:xfrm>
          <a:prstGeom prst="rect">
            <a:avLst/>
          </a:prstGeom>
          <a:noFill/>
        </p:spPr>
        <p:txBody>
          <a:bodyPr wrap="square" lIns="13716" rIns="13716" tIns="9144" bIns="9144">
            <a:spAutoFit/>
          </a:bodyPr>
          <a:lstStyle/>
          <a:p>
            <a:pPr>
              <a:spcAft>
                <a:spcPts val="800"/>
              </a:spcAft>
              <a:defRPr sz="1200" b="0">
                <a:solidFill>
                  <a:srgbClr val="587084"/>
                </a:solidFill>
                <a:latin typeface="DejaVu Sans"/>
              </a:defRPr>
            </a:pPr>
            <a:r>
              <a:t>Score &gt; Schwelle</a:t>
            </a:r>
          </a:p>
        </p:txBody>
      </p:sp>
      <p:sp>
        <p:nvSpPr>
          <p:cNvPr id="22" name="TextBox 21"/>
          <p:cNvSpPr txBox="1"/>
          <p:nvPr/>
        </p:nvSpPr>
        <p:spPr>
          <a:xfrm>
            <a:off x="9363456" y="2587752"/>
            <a:ext cx="228600" cy="347472"/>
          </a:xfrm>
          <a:prstGeom prst="rect">
            <a:avLst/>
          </a:prstGeom>
          <a:noFill/>
        </p:spPr>
        <p:txBody>
          <a:bodyPr wrap="square" lIns="13716" rIns="13716" tIns="9144" bIns="9144">
            <a:spAutoFit/>
          </a:bodyPr>
          <a:lstStyle/>
          <a:p>
            <a:pPr>
              <a:spcAft>
                <a:spcPts val="800"/>
              </a:spcAft>
              <a:defRPr sz="1700" b="0">
                <a:solidFill>
                  <a:srgbClr val="007F86"/>
                </a:solidFill>
                <a:latin typeface="DejaVu Sans"/>
              </a:defRPr>
            </a:pPr>
            <a:r>
              <a:t>→</a:t>
            </a:r>
          </a:p>
        </p:txBody>
      </p:sp>
      <p:sp>
        <p:nvSpPr>
          <p:cNvPr id="23" name="Rounded Rectangle 22"/>
          <p:cNvSpPr/>
          <p:nvPr/>
        </p:nvSpPr>
        <p:spPr>
          <a:xfrm>
            <a:off x="9537192" y="2258568"/>
            <a:ext cx="2057400" cy="9418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56064" y="2395728"/>
            <a:ext cx="1810512" cy="347472"/>
          </a:xfrm>
          <a:prstGeom prst="rect">
            <a:avLst/>
          </a:prstGeom>
          <a:noFill/>
        </p:spPr>
        <p:txBody>
          <a:bodyPr wrap="square" lIns="13716" rIns="13716" tIns="9144" bIns="9144">
            <a:spAutoFit/>
          </a:bodyPr>
          <a:lstStyle/>
          <a:p>
            <a:pPr>
              <a:spcAft>
                <a:spcPts val="800"/>
              </a:spcAft>
              <a:defRPr sz="1800" b="1">
                <a:solidFill>
                  <a:srgbClr val="142D42"/>
                </a:solidFill>
                <a:latin typeface="DejaVu Sans"/>
              </a:defRPr>
            </a:pPr>
            <a:r>
              <a:t>Protokoll</a:t>
            </a:r>
          </a:p>
        </p:txBody>
      </p:sp>
      <p:sp>
        <p:nvSpPr>
          <p:cNvPr id="25" name="TextBox 24"/>
          <p:cNvSpPr txBox="1"/>
          <p:nvPr/>
        </p:nvSpPr>
        <p:spPr>
          <a:xfrm>
            <a:off x="9656064" y="2807208"/>
            <a:ext cx="1810512" cy="274320"/>
          </a:xfrm>
          <a:prstGeom prst="rect">
            <a:avLst/>
          </a:prstGeom>
          <a:noFill/>
        </p:spPr>
        <p:txBody>
          <a:bodyPr wrap="square" lIns="13716" rIns="13716" tIns="9144" bIns="9144">
            <a:spAutoFit/>
          </a:bodyPr>
          <a:lstStyle/>
          <a:p>
            <a:pPr>
              <a:spcAft>
                <a:spcPts val="800"/>
              </a:spcAft>
              <a:defRPr sz="1200" b="0">
                <a:solidFill>
                  <a:srgbClr val="587084"/>
                </a:solidFill>
                <a:latin typeface="DejaVu Sans"/>
              </a:defRPr>
            </a:pPr>
            <a:r>
              <a:t>CSV + JSON</a:t>
            </a:r>
          </a:p>
        </p:txBody>
      </p:sp>
      <p:sp>
        <p:nvSpPr>
          <p:cNvPr id="26" name="TextBox 25"/>
          <p:cNvSpPr txBox="1"/>
          <p:nvPr/>
        </p:nvSpPr>
        <p:spPr>
          <a:xfrm>
            <a:off x="566928" y="3547872"/>
            <a:ext cx="10972800" cy="320040"/>
          </a:xfrm>
          <a:prstGeom prst="rect">
            <a:avLst/>
          </a:prstGeom>
          <a:noFill/>
        </p:spPr>
        <p:txBody>
          <a:bodyPr wrap="square" lIns="13716" rIns="13716" tIns="9144" bIns="9144">
            <a:spAutoFit/>
          </a:bodyPr>
          <a:lstStyle/>
          <a:p>
            <a:pPr>
              <a:spcAft>
                <a:spcPts val="800"/>
              </a:spcAft>
              <a:defRPr sz="1600" b="1">
                <a:solidFill>
                  <a:srgbClr val="142D42"/>
                </a:solidFill>
                <a:latin typeface="DejaVu Sans"/>
              </a:defRPr>
            </a:pPr>
            <a:r>
              <a:t>Echte Beispielaufnahme aus dem Autoencoder-Techniktest</a:t>
            </a:r>
          </a:p>
        </p:txBody>
      </p:sp>
      <p:pic>
        <p:nvPicPr>
          <p:cNvPr id="27" name="Picture 26" descr="raw_example.png"/>
          <p:cNvPicPr>
            <a:picLocks noChangeAspect="1"/>
          </p:cNvPicPr>
          <p:nvPr/>
        </p:nvPicPr>
        <p:blipFill>
          <a:blip r:embed="rId3"/>
          <a:stretch>
            <a:fillRect/>
          </a:stretch>
        </p:blipFill>
        <p:spPr>
          <a:xfrm>
            <a:off x="502920" y="4095048"/>
            <a:ext cx="11155680" cy="174028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ENTSCHEIDUNGSREGEL</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Eigene Scores, eigene Schwellenwerte</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In allen drei Fällen gilt: Score &gt; Schwelle → Alarm. Die Scorewerte sind nicht direkt untereinander vergleichbar.</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04</a:t>
            </a:r>
          </a:p>
        </p:txBody>
      </p:sp>
      <p:sp>
        <p:nvSpPr>
          <p:cNvPr id="7" name="Rounded Rectangle 6"/>
          <p:cNvSpPr/>
          <p:nvPr/>
        </p:nvSpPr>
        <p:spPr>
          <a:xfrm>
            <a:off x="502920" y="2423160"/>
            <a:ext cx="3575304" cy="2103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2660904"/>
            <a:ext cx="3172968" cy="411480"/>
          </a:xfrm>
          <a:prstGeom prst="rect">
            <a:avLst/>
          </a:prstGeom>
          <a:noFill/>
        </p:spPr>
        <p:txBody>
          <a:bodyPr wrap="square" lIns="13716" rIns="13716" tIns="9144" bIns="9144">
            <a:spAutoFit/>
          </a:bodyPr>
          <a:lstStyle/>
          <a:p>
            <a:pPr>
              <a:spcAft>
                <a:spcPts val="800"/>
              </a:spcAft>
              <a:defRPr sz="2100" b="1">
                <a:solidFill>
                  <a:srgbClr val="007F86"/>
                </a:solidFill>
                <a:latin typeface="DejaVu Sans"/>
              </a:defRPr>
            </a:pPr>
            <a:r>
              <a:t>Autoencoder</a:t>
            </a:r>
          </a:p>
        </p:txBody>
      </p:sp>
      <p:sp>
        <p:nvSpPr>
          <p:cNvPr id="9" name="TextBox 8"/>
          <p:cNvSpPr txBox="1"/>
          <p:nvPr/>
        </p:nvSpPr>
        <p:spPr>
          <a:xfrm>
            <a:off x="704088" y="3255264"/>
            <a:ext cx="3182112" cy="758952"/>
          </a:xfrm>
          <a:prstGeom prst="rect">
            <a:avLst/>
          </a:prstGeom>
          <a:noFill/>
        </p:spPr>
        <p:txBody>
          <a:bodyPr wrap="square" lIns="13716" rIns="13716" tIns="9144" bIns="9144">
            <a:spAutoFit/>
          </a:bodyPr>
          <a:lstStyle/>
          <a:p>
            <a:pPr>
              <a:spcAft>
                <a:spcPts val="800"/>
              </a:spcAft>
              <a:defRPr sz="1700" b="0">
                <a:solidFill>
                  <a:srgbClr val="142D42"/>
                </a:solidFill>
                <a:latin typeface="DejaVu Sans"/>
              </a:defRPr>
            </a:pPr>
            <a:r>
              <a:t>Rekonstruktionsfehler</a:t>
            </a:r>
          </a:p>
          <a:p>
            <a:pPr>
              <a:spcAft>
                <a:spcPts val="800"/>
              </a:spcAft>
              <a:defRPr sz="1700" b="0">
                <a:solidFill>
                  <a:srgbClr val="142D42"/>
                </a:solidFill>
                <a:latin typeface="DejaVu Sans"/>
              </a:defRPr>
            </a:pPr>
            <a:r>
              <a:t>MSE über 384 Werte</a:t>
            </a:r>
          </a:p>
        </p:txBody>
      </p:sp>
      <p:sp>
        <p:nvSpPr>
          <p:cNvPr id="10" name="TextBox 9"/>
          <p:cNvSpPr txBox="1"/>
          <p:nvPr/>
        </p:nvSpPr>
        <p:spPr>
          <a:xfrm>
            <a:off x="704088" y="4069080"/>
            <a:ext cx="3172968" cy="310896"/>
          </a:xfrm>
          <a:prstGeom prst="rect">
            <a:avLst/>
          </a:prstGeom>
          <a:noFill/>
        </p:spPr>
        <p:txBody>
          <a:bodyPr wrap="square" lIns="13716" rIns="13716" tIns="9144" bIns="9144">
            <a:spAutoFit/>
          </a:bodyPr>
          <a:lstStyle/>
          <a:p>
            <a:pPr>
              <a:spcAft>
                <a:spcPts val="800"/>
              </a:spcAft>
              <a:defRPr sz="1700" b="1">
                <a:solidFill>
                  <a:srgbClr val="142D42"/>
                </a:solidFill>
                <a:latin typeface="DejaVu Sans"/>
              </a:defRPr>
            </a:pPr>
            <a:r>
              <a:t>Schwelle 0,477203</a:t>
            </a:r>
          </a:p>
        </p:txBody>
      </p:sp>
      <p:sp>
        <p:nvSpPr>
          <p:cNvPr id="11" name="Rounded Rectangle 10"/>
          <p:cNvSpPr/>
          <p:nvPr/>
        </p:nvSpPr>
        <p:spPr>
          <a:xfrm>
            <a:off x="4297680" y="2423160"/>
            <a:ext cx="3575304" cy="2103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2660904"/>
            <a:ext cx="3172968" cy="411480"/>
          </a:xfrm>
          <a:prstGeom prst="rect">
            <a:avLst/>
          </a:prstGeom>
          <a:noFill/>
        </p:spPr>
        <p:txBody>
          <a:bodyPr wrap="square" lIns="13716" rIns="13716" tIns="9144" bIns="9144">
            <a:spAutoFit/>
          </a:bodyPr>
          <a:lstStyle/>
          <a:p>
            <a:pPr>
              <a:spcAft>
                <a:spcPts val="800"/>
              </a:spcAft>
              <a:defRPr sz="2100" b="1">
                <a:solidFill>
                  <a:srgbClr val="7454C4"/>
                </a:solidFill>
                <a:latin typeface="DejaVu Sans"/>
              </a:defRPr>
            </a:pPr>
            <a:r>
              <a:t>Isolation Forest</a:t>
            </a:r>
          </a:p>
        </p:txBody>
      </p:sp>
      <p:sp>
        <p:nvSpPr>
          <p:cNvPr id="13" name="TextBox 12"/>
          <p:cNvSpPr txBox="1"/>
          <p:nvPr/>
        </p:nvSpPr>
        <p:spPr>
          <a:xfrm>
            <a:off x="4498848" y="3255264"/>
            <a:ext cx="3182112" cy="758952"/>
          </a:xfrm>
          <a:prstGeom prst="rect">
            <a:avLst/>
          </a:prstGeom>
          <a:noFill/>
        </p:spPr>
        <p:txBody>
          <a:bodyPr wrap="square" lIns="13716" rIns="13716" tIns="9144" bIns="9144">
            <a:spAutoFit/>
          </a:bodyPr>
          <a:lstStyle/>
          <a:p>
            <a:pPr>
              <a:spcAft>
                <a:spcPts val="800"/>
              </a:spcAft>
              <a:defRPr sz="1700" b="0">
                <a:solidFill>
                  <a:srgbClr val="142D42"/>
                </a:solidFill>
                <a:latin typeface="DejaVu Sans"/>
              </a:defRPr>
            </a:pPr>
            <a:r>
              <a:t>Ausreißerbewertung</a:t>
            </a:r>
          </a:p>
          <a:p>
            <a:pPr>
              <a:spcAft>
                <a:spcPts val="800"/>
              </a:spcAft>
              <a:defRPr sz="1700" b="0">
                <a:solidFill>
                  <a:srgbClr val="142D42"/>
                </a:solidFill>
                <a:latin typeface="DejaVu Sans"/>
              </a:defRPr>
            </a:pPr>
            <a:r>
              <a:t>−score_samples</a:t>
            </a:r>
          </a:p>
        </p:txBody>
      </p:sp>
      <p:sp>
        <p:nvSpPr>
          <p:cNvPr id="14" name="TextBox 13"/>
          <p:cNvSpPr txBox="1"/>
          <p:nvPr/>
        </p:nvSpPr>
        <p:spPr>
          <a:xfrm>
            <a:off x="4498848" y="4069080"/>
            <a:ext cx="3172968" cy="310896"/>
          </a:xfrm>
          <a:prstGeom prst="rect">
            <a:avLst/>
          </a:prstGeom>
          <a:noFill/>
        </p:spPr>
        <p:txBody>
          <a:bodyPr wrap="square" lIns="13716" rIns="13716" tIns="9144" bIns="9144">
            <a:spAutoFit/>
          </a:bodyPr>
          <a:lstStyle/>
          <a:p>
            <a:pPr>
              <a:spcAft>
                <a:spcPts val="800"/>
              </a:spcAft>
              <a:defRPr sz="1700" b="1">
                <a:solidFill>
                  <a:srgbClr val="142D42"/>
                </a:solidFill>
                <a:latin typeface="DejaVu Sans"/>
              </a:defRPr>
            </a:pPr>
            <a:r>
              <a:t>Schwelle 0,483355</a:t>
            </a:r>
          </a:p>
        </p:txBody>
      </p:sp>
      <p:sp>
        <p:nvSpPr>
          <p:cNvPr id="15" name="Rounded Rectangle 14"/>
          <p:cNvSpPr/>
          <p:nvPr/>
        </p:nvSpPr>
        <p:spPr>
          <a:xfrm>
            <a:off x="8092440" y="2423160"/>
            <a:ext cx="3575304" cy="2103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660904"/>
            <a:ext cx="3172968" cy="411480"/>
          </a:xfrm>
          <a:prstGeom prst="rect">
            <a:avLst/>
          </a:prstGeom>
          <a:noFill/>
        </p:spPr>
        <p:txBody>
          <a:bodyPr wrap="square" lIns="13716" rIns="13716" tIns="9144" bIns="9144">
            <a:spAutoFit/>
          </a:bodyPr>
          <a:lstStyle/>
          <a:p>
            <a:pPr>
              <a:spcAft>
                <a:spcPts val="800"/>
              </a:spcAft>
              <a:defRPr sz="2100" b="1">
                <a:solidFill>
                  <a:srgbClr val="D67B19"/>
                </a:solidFill>
                <a:latin typeface="DejaVu Sans"/>
              </a:defRPr>
            </a:pPr>
            <a:r>
              <a:t>RMS</a:t>
            </a:r>
          </a:p>
        </p:txBody>
      </p:sp>
      <p:sp>
        <p:nvSpPr>
          <p:cNvPr id="17" name="TextBox 16"/>
          <p:cNvSpPr txBox="1"/>
          <p:nvPr/>
        </p:nvSpPr>
        <p:spPr>
          <a:xfrm>
            <a:off x="8293608" y="3255264"/>
            <a:ext cx="3182112" cy="758952"/>
          </a:xfrm>
          <a:prstGeom prst="rect">
            <a:avLst/>
          </a:prstGeom>
          <a:noFill/>
        </p:spPr>
        <p:txBody>
          <a:bodyPr wrap="square" lIns="13716" rIns="13716" tIns="9144" bIns="9144">
            <a:spAutoFit/>
          </a:bodyPr>
          <a:lstStyle/>
          <a:p>
            <a:pPr>
              <a:spcAft>
                <a:spcPts val="800"/>
              </a:spcAft>
              <a:defRPr sz="1700" b="0">
                <a:solidFill>
                  <a:srgbClr val="142D42"/>
                </a:solidFill>
                <a:latin typeface="DejaVu Sans"/>
              </a:defRPr>
            </a:pPr>
            <a:r>
              <a:t>Signalstärke</a:t>
            </a:r>
          </a:p>
          <a:p>
            <a:pPr>
              <a:spcAft>
                <a:spcPts val="800"/>
              </a:spcAft>
              <a:defRPr sz="1700" b="0">
                <a:solidFill>
                  <a:srgbClr val="142D42"/>
                </a:solidFill>
                <a:latin typeface="DejaVu Sans"/>
              </a:defRPr>
            </a:pPr>
            <a:r>
              <a:t>RMS des skalierten Fensters</a:t>
            </a:r>
          </a:p>
        </p:txBody>
      </p:sp>
      <p:sp>
        <p:nvSpPr>
          <p:cNvPr id="18" name="TextBox 17"/>
          <p:cNvSpPr txBox="1"/>
          <p:nvPr/>
        </p:nvSpPr>
        <p:spPr>
          <a:xfrm>
            <a:off x="8293608" y="4069080"/>
            <a:ext cx="3172968" cy="310896"/>
          </a:xfrm>
          <a:prstGeom prst="rect">
            <a:avLst/>
          </a:prstGeom>
          <a:noFill/>
        </p:spPr>
        <p:txBody>
          <a:bodyPr wrap="square" lIns="13716" rIns="13716" tIns="9144" bIns="9144">
            <a:spAutoFit/>
          </a:bodyPr>
          <a:lstStyle/>
          <a:p>
            <a:pPr>
              <a:spcAft>
                <a:spcPts val="800"/>
              </a:spcAft>
              <a:defRPr sz="1700" b="1">
                <a:solidFill>
                  <a:srgbClr val="142D42"/>
                </a:solidFill>
                <a:latin typeface="DejaVu Sans"/>
              </a:defRPr>
            </a:pPr>
            <a:r>
              <a:t>Schwelle 1,296361</a:t>
            </a:r>
          </a:p>
        </p:txBody>
      </p:sp>
      <p:sp>
        <p:nvSpPr>
          <p:cNvPr id="19" name="TextBox 18"/>
          <p:cNvSpPr txBox="1"/>
          <p:nvPr/>
        </p:nvSpPr>
        <p:spPr>
          <a:xfrm>
            <a:off x="566928" y="4919472"/>
            <a:ext cx="10972800" cy="502920"/>
          </a:xfrm>
          <a:prstGeom prst="rect">
            <a:avLst/>
          </a:prstGeom>
          <a:noFill/>
        </p:spPr>
        <p:txBody>
          <a:bodyPr wrap="square" lIns="13716" rIns="13716" tIns="9144" bIns="9144">
            <a:spAutoFit/>
          </a:bodyPr>
          <a:lstStyle/>
          <a:p>
            <a:pPr>
              <a:spcAft>
                <a:spcPts val="800"/>
              </a:spcAft>
              <a:defRPr sz="2100" b="1">
                <a:solidFill>
                  <a:srgbClr val="007F86"/>
                </a:solidFill>
                <a:latin typeface="DejaVu Sans"/>
              </a:defRPr>
            </a:pPr>
            <a:r>
              <a:t>P99 aus normaler Validierung: ein Kalibrierungsprinzip, keine Gütegarantie.</a:t>
            </a:r>
          </a:p>
        </p:txBody>
      </p:sp>
      <p:sp>
        <p:nvSpPr>
          <p:cNvPr id="20" name="TextBox 19"/>
          <p:cNvSpPr txBox="1"/>
          <p:nvPr/>
        </p:nvSpPr>
        <p:spPr>
          <a:xfrm>
            <a:off x="566928" y="5550408"/>
            <a:ext cx="10881360" cy="51206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97 Validierungsfenster · AE-Validierung auch für Trainingsüberwachung genutzt · neuer Handyaufbau noch ungeprüft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ECHTE TECHNIKTESTDATEN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Zwölf Fenster verarbeitet, kein Alarm</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Drei getrennte Kurztests, jeweils 3 s angefordert und vier vollständige Fenster. Keine protokollierten Anrufereignisse.</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05</a:t>
            </a:r>
          </a:p>
        </p:txBody>
      </p:sp>
      <p:pic>
        <p:nvPicPr>
          <p:cNvPr id="7" name="Picture 6" descr="scores.png"/>
          <p:cNvPicPr>
            <a:picLocks noChangeAspect="1"/>
          </p:cNvPicPr>
          <p:nvPr/>
        </p:nvPicPr>
        <p:blipFill>
          <a:blip r:embed="rId3"/>
          <a:stretch>
            <a:fillRect/>
          </a:stretch>
        </p:blipFill>
        <p:spPr>
          <a:xfrm>
            <a:off x="502920" y="2520930"/>
            <a:ext cx="11155680" cy="2703107"/>
          </a:xfrm>
          <a:prstGeom prst="rect">
            <a:avLst/>
          </a:prstGeom>
        </p:spPr>
      </p:pic>
      <p:sp>
        <p:nvSpPr>
          <p:cNvPr id="8" name="Rounded Rectangle 7"/>
          <p:cNvSpPr/>
          <p:nvPr/>
        </p:nvSpPr>
        <p:spPr>
          <a:xfrm>
            <a:off x="502920" y="5550408"/>
            <a:ext cx="11155680" cy="612648"/>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5687568"/>
            <a:ext cx="10744200" cy="347472"/>
          </a:xfrm>
          <a:prstGeom prst="rect">
            <a:avLst/>
          </a:prstGeom>
          <a:noFill/>
        </p:spPr>
        <p:txBody>
          <a:bodyPr wrap="square" lIns="13716" rIns="13716" tIns="9144" bIns="9144">
            <a:spAutoFit/>
          </a:bodyPr>
          <a:lstStyle/>
          <a:p>
            <a:pPr>
              <a:spcAft>
                <a:spcPts val="800"/>
              </a:spcAft>
              <a:defRPr sz="1600" b="1">
                <a:solidFill>
                  <a:srgbClr val="142D42"/>
                </a:solidFill>
                <a:latin typeface="DejaVu Sans"/>
              </a:defRPr>
            </a:pPr>
            <a:r>
              <a:t>Befund: Aufnahme und Entscheidung funktionieren. Eine Rangfolge der Erkennung ist daraus nicht ableitbar.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SYSTEMMESSUNG</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Berechnung und Prozesslast im Techniktest</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Vier Beobachtungen je Methode dienen hier nur dem technischen Nachweis; dies ist kein belastbarer Ressourcenbenchmark.</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06</a:t>
            </a:r>
          </a:p>
        </p:txBody>
      </p:sp>
      <p:pic>
        <p:nvPicPr>
          <p:cNvPr id="7" name="Picture 6" descr="resources.png"/>
          <p:cNvPicPr>
            <a:picLocks noChangeAspect="1"/>
          </p:cNvPicPr>
          <p:nvPr/>
        </p:nvPicPr>
        <p:blipFill>
          <a:blip r:embed="rId3"/>
          <a:stretch>
            <a:fillRect/>
          </a:stretch>
        </p:blipFill>
        <p:spPr>
          <a:xfrm>
            <a:off x="502920" y="2324334"/>
            <a:ext cx="11155680" cy="2703107"/>
          </a:xfrm>
          <a:prstGeom prst="rect">
            <a:avLst/>
          </a:prstGeom>
        </p:spPr>
      </p:pic>
      <p:sp>
        <p:nvSpPr>
          <p:cNvPr id="8" name="TextBox 7"/>
          <p:cNvSpPr txBox="1"/>
          <p:nvPr/>
        </p:nvSpPr>
        <p:spPr>
          <a:xfrm>
            <a:off x="576072" y="5367528"/>
            <a:ext cx="3566160" cy="274320"/>
          </a:xfrm>
          <a:prstGeom prst="rect">
            <a:avLst/>
          </a:prstGeom>
          <a:noFill/>
        </p:spPr>
        <p:txBody>
          <a:bodyPr wrap="square" lIns="13716" rIns="13716" tIns="9144" bIns="9144">
            <a:spAutoFit/>
          </a:bodyPr>
          <a:lstStyle/>
          <a:p>
            <a:pPr>
              <a:spcAft>
                <a:spcPts val="800"/>
              </a:spcAft>
              <a:defRPr sz="1600" b="1">
                <a:solidFill>
                  <a:srgbClr val="007F86"/>
                </a:solidFill>
                <a:latin typeface="DejaVu Sans"/>
              </a:defRPr>
            </a:pPr>
            <a:r>
              <a:t>Autoencoder</a:t>
            </a:r>
          </a:p>
        </p:txBody>
      </p:sp>
      <p:sp>
        <p:nvSpPr>
          <p:cNvPr id="9" name="TextBox 8"/>
          <p:cNvSpPr txBox="1"/>
          <p:nvPr/>
        </p:nvSpPr>
        <p:spPr>
          <a:xfrm>
            <a:off x="576072" y="5724144"/>
            <a:ext cx="3566160" cy="475488"/>
          </a:xfrm>
          <a:prstGeom prst="rect">
            <a:avLst/>
          </a:prstGeom>
          <a:noFill/>
        </p:spPr>
        <p:txBody>
          <a:bodyPr wrap="square" lIns="13716" rIns="13716" tIns="9144" bIns="9144">
            <a:spAutoFit/>
          </a:bodyPr>
          <a:lstStyle/>
          <a:p>
            <a:pPr>
              <a:spcAft>
                <a:spcPts val="800"/>
              </a:spcAft>
              <a:defRPr sz="1300" b="0">
                <a:solidFill>
                  <a:srgbClr val="142D42"/>
                </a:solidFill>
                <a:latin typeface="DejaVu Sans"/>
              </a:defRPr>
            </a:pPr>
            <a:r>
              <a:t>Median: 0,465 ms</a:t>
            </a:r>
          </a:p>
          <a:p>
            <a:pPr>
              <a:spcAft>
                <a:spcPts val="800"/>
              </a:spcAft>
              <a:defRPr sz="1300" b="0">
                <a:solidFill>
                  <a:srgbClr val="142D42"/>
                </a:solidFill>
                <a:latin typeface="DejaVu Sans"/>
              </a:defRPr>
            </a:pPr>
            <a:r>
              <a:t>Max. abgetastete RSS: 48,8 MiB</a:t>
            </a:r>
          </a:p>
        </p:txBody>
      </p:sp>
      <p:sp>
        <p:nvSpPr>
          <p:cNvPr id="10" name="TextBox 9"/>
          <p:cNvSpPr txBox="1"/>
          <p:nvPr/>
        </p:nvSpPr>
        <p:spPr>
          <a:xfrm>
            <a:off x="4352544" y="5367528"/>
            <a:ext cx="3566160" cy="274320"/>
          </a:xfrm>
          <a:prstGeom prst="rect">
            <a:avLst/>
          </a:prstGeom>
          <a:noFill/>
        </p:spPr>
        <p:txBody>
          <a:bodyPr wrap="square" lIns="13716" rIns="13716" tIns="9144" bIns="9144">
            <a:spAutoFit/>
          </a:bodyPr>
          <a:lstStyle/>
          <a:p>
            <a:pPr>
              <a:spcAft>
                <a:spcPts val="800"/>
              </a:spcAft>
              <a:defRPr sz="1600" b="1">
                <a:solidFill>
                  <a:srgbClr val="7454C4"/>
                </a:solidFill>
                <a:latin typeface="DejaVu Sans"/>
              </a:defRPr>
            </a:pPr>
            <a:r>
              <a:t>Isolation Forest</a:t>
            </a:r>
          </a:p>
        </p:txBody>
      </p:sp>
      <p:sp>
        <p:nvSpPr>
          <p:cNvPr id="11" name="TextBox 10"/>
          <p:cNvSpPr txBox="1"/>
          <p:nvPr/>
        </p:nvSpPr>
        <p:spPr>
          <a:xfrm>
            <a:off x="4352544" y="5724144"/>
            <a:ext cx="3566160" cy="475488"/>
          </a:xfrm>
          <a:prstGeom prst="rect">
            <a:avLst/>
          </a:prstGeom>
          <a:noFill/>
        </p:spPr>
        <p:txBody>
          <a:bodyPr wrap="square" lIns="13716" rIns="13716" tIns="9144" bIns="9144">
            <a:spAutoFit/>
          </a:bodyPr>
          <a:lstStyle/>
          <a:p>
            <a:pPr>
              <a:spcAft>
                <a:spcPts val="800"/>
              </a:spcAft>
              <a:defRPr sz="1300" b="0">
                <a:solidFill>
                  <a:srgbClr val="142D42"/>
                </a:solidFill>
                <a:latin typeface="DejaVu Sans"/>
              </a:defRPr>
            </a:pPr>
            <a:r>
              <a:t>Median: 18,550 ms</a:t>
            </a:r>
          </a:p>
          <a:p>
            <a:pPr>
              <a:spcAft>
                <a:spcPts val="800"/>
              </a:spcAft>
              <a:defRPr sz="1300" b="0">
                <a:solidFill>
                  <a:srgbClr val="142D42"/>
                </a:solidFill>
                <a:latin typeface="DejaVu Sans"/>
              </a:defRPr>
            </a:pPr>
            <a:r>
              <a:t>Max. abgetastete RSS: 168,1 MiB</a:t>
            </a:r>
          </a:p>
        </p:txBody>
      </p:sp>
      <p:sp>
        <p:nvSpPr>
          <p:cNvPr id="12" name="TextBox 11"/>
          <p:cNvSpPr txBox="1"/>
          <p:nvPr/>
        </p:nvSpPr>
        <p:spPr>
          <a:xfrm>
            <a:off x="8129016" y="5367528"/>
            <a:ext cx="3566160" cy="274320"/>
          </a:xfrm>
          <a:prstGeom prst="rect">
            <a:avLst/>
          </a:prstGeom>
          <a:noFill/>
        </p:spPr>
        <p:txBody>
          <a:bodyPr wrap="square" lIns="13716" rIns="13716" tIns="9144" bIns="9144">
            <a:spAutoFit/>
          </a:bodyPr>
          <a:lstStyle/>
          <a:p>
            <a:pPr>
              <a:spcAft>
                <a:spcPts val="800"/>
              </a:spcAft>
              <a:defRPr sz="1600" b="1">
                <a:solidFill>
                  <a:srgbClr val="D67B19"/>
                </a:solidFill>
                <a:latin typeface="DejaVu Sans"/>
              </a:defRPr>
            </a:pPr>
            <a:r>
              <a:t>RMS</a:t>
            </a:r>
          </a:p>
        </p:txBody>
      </p:sp>
      <p:sp>
        <p:nvSpPr>
          <p:cNvPr id="13" name="TextBox 12"/>
          <p:cNvSpPr txBox="1"/>
          <p:nvPr/>
        </p:nvSpPr>
        <p:spPr>
          <a:xfrm>
            <a:off x="8129016" y="5724144"/>
            <a:ext cx="3566160" cy="475488"/>
          </a:xfrm>
          <a:prstGeom prst="rect">
            <a:avLst/>
          </a:prstGeom>
          <a:noFill/>
        </p:spPr>
        <p:txBody>
          <a:bodyPr wrap="square" lIns="13716" rIns="13716" tIns="9144" bIns="9144">
            <a:spAutoFit/>
          </a:bodyPr>
          <a:lstStyle/>
          <a:p>
            <a:pPr>
              <a:spcAft>
                <a:spcPts val="800"/>
              </a:spcAft>
              <a:defRPr sz="1300" b="0">
                <a:solidFill>
                  <a:srgbClr val="142D42"/>
                </a:solidFill>
                <a:latin typeface="DejaVu Sans"/>
              </a:defRPr>
            </a:pPr>
            <a:r>
              <a:t>Median: 0,294 ms</a:t>
            </a:r>
          </a:p>
          <a:p>
            <a:pPr>
              <a:spcAft>
                <a:spcPts val="800"/>
              </a:spcAft>
              <a:defRPr sz="1300" b="0">
                <a:solidFill>
                  <a:srgbClr val="142D42"/>
                </a:solidFill>
                <a:latin typeface="DejaVu Sans"/>
              </a:defRPr>
            </a:pPr>
            <a:r>
              <a:t>Max. abgetastete RSS: 39,1 MiB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ZEITMESSUNG RICHTIG LESEN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Anrufsignal und Vibrationsbeginn unterscheiden</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Für eine echte Erkennungsverzögerung brauchen wir einen unabhängigen Zeitbezug zur physischen Störung.</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07</a:t>
            </a:r>
          </a:p>
        </p:txBody>
      </p:sp>
      <p:sp>
        <p:nvSpPr>
          <p:cNvPr id="7" name="Rounded Rectangle 6"/>
          <p:cNvSpPr/>
          <p:nvPr/>
        </p:nvSpPr>
        <p:spPr>
          <a:xfrm>
            <a:off x="502920" y="2468880"/>
            <a:ext cx="2651760" cy="15727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2697480"/>
            <a:ext cx="2377440" cy="530352"/>
          </a:xfrm>
          <a:prstGeom prst="rect">
            <a:avLst/>
          </a:prstGeom>
          <a:noFill/>
        </p:spPr>
        <p:txBody>
          <a:bodyPr wrap="square" lIns="13716" rIns="13716" tIns="9144" bIns="9144">
            <a:spAutoFit/>
          </a:bodyPr>
          <a:lstStyle/>
          <a:p>
            <a:pPr>
              <a:spcAft>
                <a:spcPts val="800"/>
              </a:spcAft>
              <a:defRPr sz="1900" b="1">
                <a:solidFill>
                  <a:srgbClr val="007F86"/>
                </a:solidFill>
                <a:latin typeface="DejaVu Sans"/>
              </a:defRPr>
            </a:pPr>
            <a:r>
              <a:t>Aufforderung</a:t>
            </a:r>
          </a:p>
        </p:txBody>
      </p:sp>
      <p:sp>
        <p:nvSpPr>
          <p:cNvPr id="9" name="TextBox 8"/>
          <p:cNvSpPr txBox="1"/>
          <p:nvPr/>
        </p:nvSpPr>
        <p:spPr>
          <a:xfrm>
            <a:off x="649224" y="3383280"/>
            <a:ext cx="2359152" cy="457200"/>
          </a:xfrm>
          <a:prstGeom prst="rect">
            <a:avLst/>
          </a:prstGeom>
          <a:noFill/>
        </p:spPr>
        <p:txBody>
          <a:bodyPr wrap="square" lIns="13716" rIns="13716" tIns="9144" bIns="9144">
            <a:spAutoFit/>
          </a:bodyPr>
          <a:lstStyle/>
          <a:p>
            <a:pPr>
              <a:spcAft>
                <a:spcPts val="800"/>
              </a:spcAft>
              <a:defRPr sz="1400" b="0">
                <a:solidFill>
                  <a:srgbClr val="142D42"/>
                </a:solidFill>
                <a:latin typeface="DejaVu Sans"/>
              </a:defRPr>
            </a:pPr>
            <a:r>
              <a:t>Chat / Software-Cue</a:t>
            </a:r>
          </a:p>
        </p:txBody>
      </p:sp>
      <p:sp>
        <p:nvSpPr>
          <p:cNvPr id="10" name="Rounded Rectangle 9"/>
          <p:cNvSpPr/>
          <p:nvPr/>
        </p:nvSpPr>
        <p:spPr>
          <a:xfrm>
            <a:off x="3337560" y="2468880"/>
            <a:ext cx="2651760" cy="1572768"/>
          </a:xfrm>
          <a:prstGeom prst="roundRect">
            <a:avLst>
              <a:gd name="adj" fmla="val 10000"/>
            </a:avLst>
          </a:prstGeom>
          <a:solidFill>
            <a:srgbClr val="FFF1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3864" y="2697480"/>
            <a:ext cx="2377440" cy="530352"/>
          </a:xfrm>
          <a:prstGeom prst="rect">
            <a:avLst/>
          </a:prstGeom>
          <a:noFill/>
        </p:spPr>
        <p:txBody>
          <a:bodyPr wrap="square" lIns="13716" rIns="13716" tIns="9144" bIns="9144">
            <a:spAutoFit/>
          </a:bodyPr>
          <a:lstStyle/>
          <a:p>
            <a:pPr>
              <a:spcAft>
                <a:spcPts val="800"/>
              </a:spcAft>
              <a:defRPr sz="1900" b="1">
                <a:solidFill>
                  <a:srgbClr val="AB5E06"/>
                </a:solidFill>
                <a:latin typeface="DejaVu Sans"/>
              </a:defRPr>
            </a:pPr>
            <a:r>
              <a:t>Vibrationsbeginn</a:t>
            </a:r>
          </a:p>
        </p:txBody>
      </p:sp>
      <p:sp>
        <p:nvSpPr>
          <p:cNvPr id="12" name="TextBox 11"/>
          <p:cNvSpPr txBox="1"/>
          <p:nvPr/>
        </p:nvSpPr>
        <p:spPr>
          <a:xfrm>
            <a:off x="3483864" y="3383280"/>
            <a:ext cx="2359152" cy="457200"/>
          </a:xfrm>
          <a:prstGeom prst="rect">
            <a:avLst/>
          </a:prstGeom>
          <a:noFill/>
        </p:spPr>
        <p:txBody>
          <a:bodyPr wrap="square" lIns="13716" rIns="13716" tIns="9144" bIns="9144">
            <a:spAutoFit/>
          </a:bodyPr>
          <a:lstStyle/>
          <a:p>
            <a:pPr>
              <a:spcAft>
                <a:spcPts val="800"/>
              </a:spcAft>
              <a:defRPr sz="1400" b="0">
                <a:solidFill>
                  <a:srgbClr val="142D42"/>
                </a:solidFill>
                <a:latin typeface="DejaVu Sans"/>
              </a:defRPr>
            </a:pPr>
            <a:r>
              <a:t>Physisch noch ungemessen</a:t>
            </a:r>
          </a:p>
        </p:txBody>
      </p:sp>
      <p:sp>
        <p:nvSpPr>
          <p:cNvPr id="13" name="Rounded Rectangle 12"/>
          <p:cNvSpPr/>
          <p:nvPr/>
        </p:nvSpPr>
        <p:spPr>
          <a:xfrm>
            <a:off x="6172200" y="2468880"/>
            <a:ext cx="2651760" cy="15727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2697480"/>
            <a:ext cx="2377440" cy="530352"/>
          </a:xfrm>
          <a:prstGeom prst="rect">
            <a:avLst/>
          </a:prstGeom>
          <a:noFill/>
        </p:spPr>
        <p:txBody>
          <a:bodyPr wrap="square" lIns="13716" rIns="13716" tIns="9144" bIns="9144">
            <a:spAutoFit/>
          </a:bodyPr>
          <a:lstStyle/>
          <a:p>
            <a:pPr>
              <a:spcAft>
                <a:spcPts val="800"/>
              </a:spcAft>
              <a:defRPr sz="1900" b="1">
                <a:solidFill>
                  <a:srgbClr val="007F86"/>
                </a:solidFill>
                <a:latin typeface="DejaVu Sans"/>
              </a:defRPr>
            </a:pPr>
            <a:r>
              <a:t>Fenster vollständig</a:t>
            </a:r>
          </a:p>
        </p:txBody>
      </p:sp>
      <p:sp>
        <p:nvSpPr>
          <p:cNvPr id="15" name="TextBox 14"/>
          <p:cNvSpPr txBox="1"/>
          <p:nvPr/>
        </p:nvSpPr>
        <p:spPr>
          <a:xfrm>
            <a:off x="6318504" y="3383280"/>
            <a:ext cx="2359152" cy="457200"/>
          </a:xfrm>
          <a:prstGeom prst="rect">
            <a:avLst/>
          </a:prstGeom>
          <a:noFill/>
        </p:spPr>
        <p:txBody>
          <a:bodyPr wrap="square" lIns="13716" rIns="13716" tIns="9144" bIns="9144">
            <a:spAutoFit/>
          </a:bodyPr>
          <a:lstStyle/>
          <a:p>
            <a:pPr>
              <a:spcAft>
                <a:spcPts val="800"/>
              </a:spcAft>
              <a:defRPr sz="1400" b="0">
                <a:solidFill>
                  <a:srgbClr val="142D42"/>
                </a:solidFill>
                <a:latin typeface="DejaVu Sans"/>
              </a:defRPr>
            </a:pPr>
            <a:r>
              <a:t>Messdaten liegen vor</a:t>
            </a:r>
          </a:p>
        </p:txBody>
      </p:sp>
      <p:sp>
        <p:nvSpPr>
          <p:cNvPr id="16" name="Rounded Rectangle 15"/>
          <p:cNvSpPr/>
          <p:nvPr/>
        </p:nvSpPr>
        <p:spPr>
          <a:xfrm>
            <a:off x="9006840" y="2468880"/>
            <a:ext cx="2651760" cy="15727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53144" y="2697480"/>
            <a:ext cx="2377440" cy="530352"/>
          </a:xfrm>
          <a:prstGeom prst="rect">
            <a:avLst/>
          </a:prstGeom>
          <a:noFill/>
        </p:spPr>
        <p:txBody>
          <a:bodyPr wrap="square" lIns="13716" rIns="13716" tIns="9144" bIns="9144">
            <a:spAutoFit/>
          </a:bodyPr>
          <a:lstStyle/>
          <a:p>
            <a:pPr>
              <a:spcAft>
                <a:spcPts val="800"/>
              </a:spcAft>
              <a:defRPr sz="1900" b="1">
                <a:solidFill>
                  <a:srgbClr val="007F86"/>
                </a:solidFill>
                <a:latin typeface="DejaVu Sans"/>
              </a:defRPr>
            </a:pPr>
            <a:r>
              <a:t>Erster Alarm</a:t>
            </a:r>
          </a:p>
        </p:txBody>
      </p:sp>
      <p:sp>
        <p:nvSpPr>
          <p:cNvPr id="18" name="TextBox 17"/>
          <p:cNvSpPr txBox="1"/>
          <p:nvPr/>
        </p:nvSpPr>
        <p:spPr>
          <a:xfrm>
            <a:off x="9153144" y="3383280"/>
            <a:ext cx="2359152" cy="457200"/>
          </a:xfrm>
          <a:prstGeom prst="rect">
            <a:avLst/>
          </a:prstGeom>
          <a:noFill/>
        </p:spPr>
        <p:txBody>
          <a:bodyPr wrap="square" lIns="13716" rIns="13716" tIns="9144" bIns="9144">
            <a:spAutoFit/>
          </a:bodyPr>
          <a:lstStyle/>
          <a:p>
            <a:pPr>
              <a:spcAft>
                <a:spcPts val="800"/>
              </a:spcAft>
              <a:defRPr sz="1400" b="0">
                <a:solidFill>
                  <a:srgbClr val="142D42"/>
                </a:solidFill>
                <a:latin typeface="DejaVu Sans"/>
              </a:defRPr>
            </a:pPr>
            <a:r>
              <a:t>Entscheidung protokolliert</a:t>
            </a:r>
          </a:p>
        </p:txBody>
      </p:sp>
      <p:sp>
        <p:nvSpPr>
          <p:cNvPr id="19" name="TextBox 18"/>
          <p:cNvSpPr txBox="1"/>
          <p:nvPr/>
        </p:nvSpPr>
        <p:spPr>
          <a:xfrm>
            <a:off x="621792" y="4517136"/>
            <a:ext cx="10972800" cy="640080"/>
          </a:xfrm>
          <a:prstGeom prst="rect">
            <a:avLst/>
          </a:prstGeom>
          <a:noFill/>
        </p:spPr>
        <p:txBody>
          <a:bodyPr wrap="square" lIns="13716" rIns="13716" tIns="9144" bIns="9144">
            <a:spAutoFit/>
          </a:bodyPr>
          <a:lstStyle/>
          <a:p>
            <a:pPr>
              <a:spcAft>
                <a:spcPts val="800"/>
              </a:spcAft>
              <a:defRPr sz="2300" b="1">
                <a:solidFill>
                  <a:srgbClr val="142D42"/>
                </a:solidFill>
                <a:latin typeface="DejaVu Sans"/>
              </a:defRPr>
            </a:pPr>
            <a:r>
              <a:t>Erkennungsverzögerung = erster Alarm − tatsächlicher Vibrationsbeginn</a:t>
            </a:r>
          </a:p>
        </p:txBody>
      </p:sp>
      <p:sp>
        <p:nvSpPr>
          <p:cNvPr id="20" name="TextBox 19"/>
          <p:cNvSpPr txBox="1"/>
          <p:nvPr/>
        </p:nvSpPr>
        <p:spPr>
          <a:xfrm>
            <a:off x="621792" y="5468112"/>
            <a:ext cx="10881360" cy="621792"/>
          </a:xfrm>
          <a:prstGeom prst="rect">
            <a:avLst/>
          </a:prstGeom>
          <a:noFill/>
        </p:spPr>
        <p:txBody>
          <a:bodyPr wrap="square" lIns="13716" rIns="13716" tIns="9144" bIns="9144">
            <a:spAutoFit/>
          </a:bodyPr>
          <a:lstStyle/>
          <a:p>
            <a:pPr>
              <a:spcAft>
                <a:spcPts val="800"/>
              </a:spcAft>
              <a:defRPr sz="1800" b="0">
                <a:solidFill>
                  <a:srgbClr val="587084"/>
                </a:solidFill>
                <a:latin typeface="DejaVu Sans"/>
              </a:defRPr>
            </a:pPr>
            <a:r>
              <a:t>Schon vergleichbar im Replay: erstes Alarmfenster auf identischen Daten.</a:t>
            </a:r>
          </a:p>
          <a:p>
            <a:pPr>
              <a:spcAft>
                <a:spcPts val="800"/>
              </a:spcAft>
              <a:defRPr sz="1800" b="0">
                <a:solidFill>
                  <a:srgbClr val="587084"/>
                </a:solidFill>
                <a:latin typeface="DejaVu Sans"/>
              </a:defRPr>
            </a:pPr>
            <a:r>
              <a:t>Noch offen: belastbare Verzögerung ab der tatsächlichen Störung.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NACHVOLLZIEHBARE DOKUMENTATION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Echter Screenshot eines lokalen Evidenzberichts</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Der Browser zeigt die archivierten Techniktestdaten. Das Bild ist keine Live-GUI und kein Foto des Aufbaus.</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08</a:t>
            </a:r>
          </a:p>
        </p:txBody>
      </p:sp>
      <p:pic>
        <p:nvPicPr>
          <p:cNvPr id="7" name="Picture 6" descr="evidence_report_screenshot.png"/>
          <p:cNvPicPr>
            <a:picLocks noChangeAspect="1"/>
          </p:cNvPicPr>
          <p:nvPr/>
        </p:nvPicPr>
        <p:blipFill>
          <a:blip r:embed="rId3"/>
          <a:stretch>
            <a:fillRect/>
          </a:stretch>
        </p:blipFill>
        <p:spPr>
          <a:xfrm>
            <a:off x="1020802" y="2185416"/>
            <a:ext cx="5931962" cy="4078224"/>
          </a:xfrm>
          <a:prstGeom prst="rect">
            <a:avLst/>
          </a:prstGeom>
        </p:spPr>
      </p:pic>
      <p:sp>
        <p:nvSpPr>
          <p:cNvPr id="8" name="Rounded Rectangle 7"/>
          <p:cNvSpPr/>
          <p:nvPr/>
        </p:nvSpPr>
        <p:spPr>
          <a:xfrm>
            <a:off x="7754112" y="2404872"/>
            <a:ext cx="3931920" cy="34107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91856" y="2697480"/>
            <a:ext cx="3447288" cy="411480"/>
          </a:xfrm>
          <a:prstGeom prst="rect">
            <a:avLst/>
          </a:prstGeom>
          <a:noFill/>
        </p:spPr>
        <p:txBody>
          <a:bodyPr wrap="square" lIns="13716" rIns="13716" tIns="9144" bIns="9144">
            <a:spAutoFit/>
          </a:bodyPr>
          <a:lstStyle/>
          <a:p>
            <a:pPr>
              <a:spcAft>
                <a:spcPts val="800"/>
              </a:spcAft>
              <a:defRPr sz="2200" b="1">
                <a:solidFill>
                  <a:srgbClr val="142D42"/>
                </a:solidFill>
                <a:latin typeface="DejaVu Sans"/>
              </a:defRPr>
            </a:pPr>
            <a:r>
              <a:t>Prüfbare Artefakte</a:t>
            </a:r>
          </a:p>
        </p:txBody>
      </p:sp>
      <p:sp>
        <p:nvSpPr>
          <p:cNvPr id="10" name="TextBox 9"/>
          <p:cNvSpPr txBox="1"/>
          <p:nvPr/>
        </p:nvSpPr>
        <p:spPr>
          <a:xfrm>
            <a:off x="7991856" y="3337560"/>
            <a:ext cx="3401568" cy="2157984"/>
          </a:xfrm>
          <a:prstGeom prst="rect">
            <a:avLst/>
          </a:prstGeom>
          <a:noFill/>
        </p:spPr>
        <p:txBody>
          <a:bodyPr wrap="square" lIns="13716" rIns="13716" tIns="9144" bIns="9144">
            <a:spAutoFit/>
          </a:bodyPr>
          <a:lstStyle/>
          <a:p>
            <a:pPr>
              <a:spcAft>
                <a:spcPts val="800"/>
              </a:spcAft>
              <a:defRPr sz="1700" b="0">
                <a:solidFill>
                  <a:srgbClr val="142D42"/>
                </a:solidFill>
                <a:latin typeface="DejaVu Sans"/>
              </a:defRPr>
            </a:pPr>
            <a:r>
              <a:t>Rohdaten und Entscheidungen</a:t>
            </a:r>
          </a:p>
          <a:p>
            <a:pPr>
              <a:spcAft>
                <a:spcPts val="800"/>
              </a:spcAft>
              <a:defRPr sz="1700" b="0">
                <a:solidFill>
                  <a:srgbClr val="142D42"/>
                </a:solidFill>
                <a:latin typeface="DejaVu Sans"/>
              </a:defRPr>
            </a:pPr>
            <a:r>
              <a:t>Lauf- und Modellmetadaten</a:t>
            </a:r>
          </a:p>
          <a:p>
            <a:pPr>
              <a:spcAft>
                <a:spcPts val="800"/>
              </a:spcAft>
              <a:defRPr sz="1700" b="0">
                <a:solidFill>
                  <a:srgbClr val="142D42"/>
                </a:solidFill>
                <a:latin typeface="DejaVu Sans"/>
              </a:defRPr>
            </a:pPr>
            <a:r>
              <a:t>PNG-/PDF-Diagramme</a:t>
            </a:r>
          </a:p>
          <a:p>
            <a:pPr>
              <a:spcAft>
                <a:spcPts val="800"/>
              </a:spcAft>
              <a:defRPr sz="1700" b="0">
                <a:solidFill>
                  <a:srgbClr val="142D42"/>
                </a:solidFill>
                <a:latin typeface="DejaVu Sans"/>
              </a:defRPr>
            </a:pPr>
            <a:r>
              <a:t>Browser-Screenshot</a:t>
            </a:r>
          </a:p>
          <a:p>
            <a:pPr>
              <a:spcAft>
                <a:spcPts val="800"/>
              </a:spcAft>
              <a:defRPr sz="1700" b="0">
                <a:solidFill>
                  <a:srgbClr val="142D42"/>
                </a:solidFill>
                <a:latin typeface="DejaVu Sans"/>
              </a:defRPr>
            </a:pPr>
            <a:r>
              <a:t>SHA-256-Quellenmanifest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AUSSAGEKRAFT</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Technisch vorbereitet; Nachweise bleiben offen</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Die Folien trennen vorhandene Evidenz von dem, was die Anrufversuche erst liefern sollen.</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09</a:t>
            </a:r>
          </a:p>
        </p:txBody>
      </p:sp>
      <p:sp>
        <p:nvSpPr>
          <p:cNvPr id="7" name="Rounded Rectangle 6"/>
          <p:cNvSpPr/>
          <p:nvPr/>
        </p:nvSpPr>
        <p:spPr>
          <a:xfrm>
            <a:off x="502920" y="2359152"/>
            <a:ext cx="11155680" cy="63093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505456"/>
            <a:ext cx="6400800" cy="347472"/>
          </a:xfrm>
          <a:prstGeom prst="rect">
            <a:avLst/>
          </a:prstGeom>
          <a:noFill/>
        </p:spPr>
        <p:txBody>
          <a:bodyPr wrap="square" lIns="13716" rIns="13716" tIns="9144" bIns="9144">
            <a:spAutoFit/>
          </a:bodyPr>
          <a:lstStyle/>
          <a:p>
            <a:pPr>
              <a:spcAft>
                <a:spcPts val="800"/>
              </a:spcAft>
              <a:defRPr sz="1700" b="1">
                <a:solidFill>
                  <a:srgbClr val="142D42"/>
                </a:solidFill>
                <a:latin typeface="DejaVu Sans"/>
              </a:defRPr>
            </a:pPr>
            <a:r>
              <a:t>Einzelbetrieb, Rohdaten, Scores</a:t>
            </a:r>
          </a:p>
        </p:txBody>
      </p:sp>
      <p:sp>
        <p:nvSpPr>
          <p:cNvPr id="9" name="TextBox 8"/>
          <p:cNvSpPr txBox="1"/>
          <p:nvPr/>
        </p:nvSpPr>
        <p:spPr>
          <a:xfrm>
            <a:off x="7315200" y="2505456"/>
            <a:ext cx="4041648" cy="347472"/>
          </a:xfrm>
          <a:prstGeom prst="rect">
            <a:avLst/>
          </a:prstGeom>
          <a:noFill/>
        </p:spPr>
        <p:txBody>
          <a:bodyPr wrap="square" lIns="13716" rIns="13716" tIns="9144" bIns="9144">
            <a:spAutoFit/>
          </a:bodyPr>
          <a:lstStyle/>
          <a:p>
            <a:pPr>
              <a:spcAft>
                <a:spcPts val="800"/>
              </a:spcAft>
              <a:defRPr sz="1500" b="0">
                <a:solidFill>
                  <a:srgbClr val="007F86"/>
                </a:solidFill>
                <a:latin typeface="DejaVu Sans"/>
              </a:defRPr>
            </a:pPr>
            <a:r>
              <a:t>in drei kurzen Tests belegt</a:t>
            </a:r>
          </a:p>
        </p:txBody>
      </p:sp>
      <p:sp>
        <p:nvSpPr>
          <p:cNvPr id="10" name="Rounded Rectangle 9"/>
          <p:cNvSpPr/>
          <p:nvPr/>
        </p:nvSpPr>
        <p:spPr>
          <a:xfrm>
            <a:off x="502920" y="3145536"/>
            <a:ext cx="11155680" cy="63093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291840"/>
            <a:ext cx="6400800" cy="347472"/>
          </a:xfrm>
          <a:prstGeom prst="rect">
            <a:avLst/>
          </a:prstGeom>
          <a:noFill/>
        </p:spPr>
        <p:txBody>
          <a:bodyPr wrap="square" lIns="13716" rIns="13716" tIns="9144" bIns="9144">
            <a:spAutoFit/>
          </a:bodyPr>
          <a:lstStyle/>
          <a:p>
            <a:pPr>
              <a:spcAft>
                <a:spcPts val="800"/>
              </a:spcAft>
              <a:defRPr sz="1700" b="1">
                <a:solidFill>
                  <a:srgbClr val="142D42"/>
                </a:solidFill>
                <a:latin typeface="DejaVu Sans"/>
              </a:defRPr>
            </a:pPr>
            <a:r>
              <a:t>Handyposition und finale Normalkalibrierung</a:t>
            </a:r>
          </a:p>
        </p:txBody>
      </p:sp>
      <p:sp>
        <p:nvSpPr>
          <p:cNvPr id="12" name="TextBox 11"/>
          <p:cNvSpPr txBox="1"/>
          <p:nvPr/>
        </p:nvSpPr>
        <p:spPr>
          <a:xfrm>
            <a:off x="7315200" y="3291840"/>
            <a:ext cx="4041648" cy="347472"/>
          </a:xfrm>
          <a:prstGeom prst="rect">
            <a:avLst/>
          </a:prstGeom>
          <a:noFill/>
        </p:spPr>
        <p:txBody>
          <a:bodyPr wrap="square" lIns="13716" rIns="13716" tIns="9144" bIns="9144">
            <a:spAutoFit/>
          </a:bodyPr>
          <a:lstStyle/>
          <a:p>
            <a:pPr>
              <a:spcAft>
                <a:spcPts val="800"/>
              </a:spcAft>
              <a:defRPr sz="1500" b="0">
                <a:solidFill>
                  <a:srgbClr val="AB5E06"/>
                </a:solidFill>
                <a:latin typeface="DejaVu Sans"/>
              </a:defRPr>
            </a:pPr>
            <a:r>
              <a:t>noch zu bestätigen / prüfen</a:t>
            </a:r>
          </a:p>
        </p:txBody>
      </p:sp>
      <p:sp>
        <p:nvSpPr>
          <p:cNvPr id="13" name="Rounded Rectangle 12"/>
          <p:cNvSpPr/>
          <p:nvPr/>
        </p:nvSpPr>
        <p:spPr>
          <a:xfrm>
            <a:off x="502920" y="3931920"/>
            <a:ext cx="11155680" cy="63093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078224"/>
            <a:ext cx="6400800" cy="347472"/>
          </a:xfrm>
          <a:prstGeom prst="rect">
            <a:avLst/>
          </a:prstGeom>
          <a:noFill/>
        </p:spPr>
        <p:txBody>
          <a:bodyPr wrap="square" lIns="13716" rIns="13716" tIns="9144" bIns="9144">
            <a:spAutoFit/>
          </a:bodyPr>
          <a:lstStyle/>
          <a:p>
            <a:pPr>
              <a:spcAft>
                <a:spcPts val="800"/>
              </a:spcAft>
              <a:defRPr sz="1700" b="1">
                <a:solidFill>
                  <a:srgbClr val="142D42"/>
                </a:solidFill>
                <a:latin typeface="DejaVu Sans"/>
              </a:defRPr>
            </a:pPr>
            <a:r>
              <a:t>Physischer Störungsbeginn und Störungsende</a:t>
            </a:r>
          </a:p>
        </p:txBody>
      </p:sp>
      <p:sp>
        <p:nvSpPr>
          <p:cNvPr id="15" name="TextBox 14"/>
          <p:cNvSpPr txBox="1"/>
          <p:nvPr/>
        </p:nvSpPr>
        <p:spPr>
          <a:xfrm>
            <a:off x="7315200" y="4078224"/>
            <a:ext cx="4041648" cy="347472"/>
          </a:xfrm>
          <a:prstGeom prst="rect">
            <a:avLst/>
          </a:prstGeom>
          <a:noFill/>
        </p:spPr>
        <p:txBody>
          <a:bodyPr wrap="square" lIns="13716" rIns="13716" tIns="9144" bIns="9144">
            <a:spAutoFit/>
          </a:bodyPr>
          <a:lstStyle/>
          <a:p>
            <a:pPr>
              <a:spcAft>
                <a:spcPts val="800"/>
              </a:spcAft>
              <a:defRPr sz="1500" b="0">
                <a:solidFill>
                  <a:srgbClr val="AB5E06"/>
                </a:solidFill>
                <a:latin typeface="DejaVu Sans"/>
              </a:defRPr>
            </a:pPr>
            <a:r>
              <a:t>noch nicht unabhängig gemessen</a:t>
            </a:r>
          </a:p>
        </p:txBody>
      </p:sp>
      <p:sp>
        <p:nvSpPr>
          <p:cNvPr id="16" name="Rounded Rectangle 15"/>
          <p:cNvSpPr/>
          <p:nvPr/>
        </p:nvSpPr>
        <p:spPr>
          <a:xfrm>
            <a:off x="502920" y="4718304"/>
            <a:ext cx="11155680" cy="63093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864608"/>
            <a:ext cx="6400800" cy="347472"/>
          </a:xfrm>
          <a:prstGeom prst="rect">
            <a:avLst/>
          </a:prstGeom>
          <a:noFill/>
        </p:spPr>
        <p:txBody>
          <a:bodyPr wrap="square" lIns="13716" rIns="13716" tIns="9144" bIns="9144">
            <a:spAutoFit/>
          </a:bodyPr>
          <a:lstStyle/>
          <a:p>
            <a:pPr>
              <a:spcAft>
                <a:spcPts val="800"/>
              </a:spcAft>
              <a:defRPr sz="1700" b="1">
                <a:solidFill>
                  <a:srgbClr val="142D42"/>
                </a:solidFill>
                <a:latin typeface="DejaVu Sans"/>
              </a:defRPr>
            </a:pPr>
            <a:r>
              <a:t>Erkennungsrate, Fehlalarme, Ressourcenrangfolge</a:t>
            </a:r>
          </a:p>
        </p:txBody>
      </p:sp>
      <p:sp>
        <p:nvSpPr>
          <p:cNvPr id="18" name="TextBox 17"/>
          <p:cNvSpPr txBox="1"/>
          <p:nvPr/>
        </p:nvSpPr>
        <p:spPr>
          <a:xfrm>
            <a:off x="7315200" y="4864608"/>
            <a:ext cx="4041648" cy="347472"/>
          </a:xfrm>
          <a:prstGeom prst="rect">
            <a:avLst/>
          </a:prstGeom>
          <a:noFill/>
        </p:spPr>
        <p:txBody>
          <a:bodyPr wrap="square" lIns="13716" rIns="13716" tIns="9144" bIns="9144">
            <a:spAutoFit/>
          </a:bodyPr>
          <a:lstStyle/>
          <a:p>
            <a:pPr>
              <a:spcAft>
                <a:spcPts val="800"/>
              </a:spcAft>
              <a:defRPr sz="1500" b="0">
                <a:solidFill>
                  <a:srgbClr val="AB5E06"/>
                </a:solidFill>
                <a:latin typeface="DejaVu Sans"/>
              </a:defRPr>
            </a:pPr>
            <a:r>
              <a:t>noch keine belastbare Aussage</a:t>
            </a:r>
          </a:p>
        </p:txBody>
      </p:sp>
      <p:sp>
        <p:nvSpPr>
          <p:cNvPr id="19" name="TextBox 18"/>
          <p:cNvSpPr txBox="1"/>
          <p:nvPr/>
        </p:nvSpPr>
        <p:spPr>
          <a:xfrm>
            <a:off x="594360" y="5760720"/>
            <a:ext cx="10972800" cy="338328"/>
          </a:xfrm>
          <a:prstGeom prst="rect">
            <a:avLst/>
          </a:prstGeom>
          <a:noFill/>
        </p:spPr>
        <p:txBody>
          <a:bodyPr wrap="square" lIns="13716" rIns="13716" tIns="9144" bIns="9144">
            <a:spAutoFit/>
          </a:bodyPr>
          <a:lstStyle/>
          <a:p>
            <a:pPr>
              <a:spcAft>
                <a:spcPts val="800"/>
              </a:spcAft>
              <a:defRPr sz="1600" b="0">
                <a:solidFill>
                  <a:srgbClr val="587084"/>
                </a:solidFill>
                <a:latin typeface="DejaVu Sans"/>
              </a:defRPr>
            </a:pPr>
            <a:r>
              <a:t>Untersuchungsgegenstand: extern eingebrachte Vibration — kein belegter Lüfterdefekt.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NÄCHSTE SCHRITTE</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Vom Probelauf zur auswertbaren Versuchsreihe</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Aufnahme und Auswertung erfolgen ohne Live-GUI; die Bedienperson löst auf Signal genau einen Anruf aus.</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VORBEREITUNGSSTAND · 19.09.2026 · Techniktests, keine Ergebnisse von Anrufversuchen</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10</a:t>
            </a:r>
          </a:p>
        </p:txBody>
      </p:sp>
      <p:sp>
        <p:nvSpPr>
          <p:cNvPr id="7" name="TextBox 6"/>
          <p:cNvSpPr txBox="1"/>
          <p:nvPr/>
        </p:nvSpPr>
        <p:spPr>
          <a:xfrm>
            <a:off x="603504" y="2322576"/>
            <a:ext cx="594360" cy="393192"/>
          </a:xfrm>
          <a:prstGeom prst="rect">
            <a:avLst/>
          </a:prstGeom>
          <a:noFill/>
        </p:spPr>
        <p:txBody>
          <a:bodyPr wrap="square" lIns="13716" rIns="13716" tIns="9144" bIns="9144">
            <a:spAutoFit/>
          </a:bodyPr>
          <a:lstStyle/>
          <a:p>
            <a:pPr>
              <a:spcAft>
                <a:spcPts val="800"/>
              </a:spcAft>
              <a:defRPr sz="2300" b="1">
                <a:solidFill>
                  <a:srgbClr val="007F86"/>
                </a:solidFill>
                <a:latin typeface="DejaVu Sans"/>
              </a:defRPr>
            </a:pPr>
            <a:r>
              <a:t>01</a:t>
            </a:r>
          </a:p>
        </p:txBody>
      </p:sp>
      <p:sp>
        <p:nvSpPr>
          <p:cNvPr id="8" name="TextBox 7"/>
          <p:cNvSpPr txBox="1"/>
          <p:nvPr/>
        </p:nvSpPr>
        <p:spPr>
          <a:xfrm>
            <a:off x="1463040" y="2258568"/>
            <a:ext cx="9848088" cy="393192"/>
          </a:xfrm>
          <a:prstGeom prst="rect">
            <a:avLst/>
          </a:prstGeom>
          <a:noFill/>
        </p:spPr>
        <p:txBody>
          <a:bodyPr wrap="square" lIns="13716" rIns="13716" tIns="9144" bIns="9144">
            <a:spAutoFit/>
          </a:bodyPr>
          <a:lstStyle/>
          <a:p>
            <a:pPr>
              <a:spcAft>
                <a:spcPts val="800"/>
              </a:spcAft>
              <a:defRPr sz="2100" b="1">
                <a:solidFill>
                  <a:srgbClr val="142D42"/>
                </a:solidFill>
                <a:latin typeface="DejaVu Sans"/>
              </a:defRPr>
            </a:pPr>
            <a:r>
              <a:t>Aufbau festhalten</a:t>
            </a:r>
          </a:p>
        </p:txBody>
      </p:sp>
      <p:sp>
        <p:nvSpPr>
          <p:cNvPr id="9" name="TextBox 8"/>
          <p:cNvSpPr txBox="1"/>
          <p:nvPr/>
        </p:nvSpPr>
        <p:spPr>
          <a:xfrm>
            <a:off x="1463040" y="2679192"/>
            <a:ext cx="9848088" cy="393192"/>
          </a:xfrm>
          <a:prstGeom prst="rect">
            <a:avLst/>
          </a:prstGeom>
          <a:noFill/>
        </p:spPr>
        <p:txBody>
          <a:bodyPr wrap="square" lIns="13716" rIns="13716" tIns="9144" bIns="9144">
            <a:spAutoFit/>
          </a:bodyPr>
          <a:lstStyle/>
          <a:p>
            <a:pPr>
              <a:spcAft>
                <a:spcPts val="800"/>
              </a:spcAft>
              <a:defRPr sz="1600" b="0">
                <a:solidFill>
                  <a:srgbClr val="587084"/>
                </a:solidFill>
                <a:latin typeface="DejaVu Sans"/>
              </a:defRPr>
            </a:pPr>
            <a:r>
              <a:t>Handy befestigen, Vibration einstellen, Normalzustand prüfen.</a:t>
            </a:r>
          </a:p>
        </p:txBody>
      </p:sp>
      <p:sp>
        <p:nvSpPr>
          <p:cNvPr id="10" name="TextBox 9"/>
          <p:cNvSpPr txBox="1"/>
          <p:nvPr/>
        </p:nvSpPr>
        <p:spPr>
          <a:xfrm>
            <a:off x="603504" y="3209544"/>
            <a:ext cx="594360" cy="393192"/>
          </a:xfrm>
          <a:prstGeom prst="rect">
            <a:avLst/>
          </a:prstGeom>
          <a:noFill/>
        </p:spPr>
        <p:txBody>
          <a:bodyPr wrap="square" lIns="13716" rIns="13716" tIns="9144" bIns="9144">
            <a:spAutoFit/>
          </a:bodyPr>
          <a:lstStyle/>
          <a:p>
            <a:pPr>
              <a:spcAft>
                <a:spcPts val="800"/>
              </a:spcAft>
              <a:defRPr sz="2300" b="1">
                <a:solidFill>
                  <a:srgbClr val="007F86"/>
                </a:solidFill>
                <a:latin typeface="DejaVu Sans"/>
              </a:defRPr>
            </a:pPr>
            <a:r>
              <a:t>02</a:t>
            </a:r>
          </a:p>
        </p:txBody>
      </p:sp>
      <p:sp>
        <p:nvSpPr>
          <p:cNvPr id="11" name="TextBox 10"/>
          <p:cNvSpPr txBox="1"/>
          <p:nvPr/>
        </p:nvSpPr>
        <p:spPr>
          <a:xfrm>
            <a:off x="1463040" y="3145536"/>
            <a:ext cx="9848088" cy="393192"/>
          </a:xfrm>
          <a:prstGeom prst="rect">
            <a:avLst/>
          </a:prstGeom>
          <a:noFill/>
        </p:spPr>
        <p:txBody>
          <a:bodyPr wrap="square" lIns="13716" rIns="13716" tIns="9144" bIns="9144">
            <a:spAutoFit/>
          </a:bodyPr>
          <a:lstStyle/>
          <a:p>
            <a:pPr>
              <a:spcAft>
                <a:spcPts val="800"/>
              </a:spcAft>
              <a:defRPr sz="2100" b="1">
                <a:solidFill>
                  <a:srgbClr val="142D42"/>
                </a:solidFill>
                <a:latin typeface="DejaVu Sans"/>
              </a:defRPr>
            </a:pPr>
            <a:r>
              <a:t>Einzelversuche aufnehmen</a:t>
            </a:r>
          </a:p>
        </p:txBody>
      </p:sp>
      <p:sp>
        <p:nvSpPr>
          <p:cNvPr id="12" name="TextBox 11"/>
          <p:cNvSpPr txBox="1"/>
          <p:nvPr/>
        </p:nvSpPr>
        <p:spPr>
          <a:xfrm>
            <a:off x="1463040" y="3566160"/>
            <a:ext cx="9848088" cy="393192"/>
          </a:xfrm>
          <a:prstGeom prst="rect">
            <a:avLst/>
          </a:prstGeom>
          <a:noFill/>
        </p:spPr>
        <p:txBody>
          <a:bodyPr wrap="square" lIns="13716" rIns="13716" tIns="9144" bIns="9144">
            <a:spAutoFit/>
          </a:bodyPr>
          <a:lstStyle/>
          <a:p>
            <a:pPr>
              <a:spcAft>
                <a:spcPts val="800"/>
              </a:spcAft>
              <a:defRPr sz="1600" b="0">
                <a:solidFill>
                  <a:srgbClr val="587084"/>
                </a:solidFill>
                <a:latin typeface="DejaVu Sans"/>
              </a:defRPr>
            </a:pPr>
            <a:r>
              <a:t>Je Methode ein Anruf, Bestätigung und Ende protokollieren.</a:t>
            </a:r>
          </a:p>
        </p:txBody>
      </p:sp>
      <p:sp>
        <p:nvSpPr>
          <p:cNvPr id="13" name="TextBox 12"/>
          <p:cNvSpPr txBox="1"/>
          <p:nvPr/>
        </p:nvSpPr>
        <p:spPr>
          <a:xfrm>
            <a:off x="603504" y="4096512"/>
            <a:ext cx="594360" cy="393192"/>
          </a:xfrm>
          <a:prstGeom prst="rect">
            <a:avLst/>
          </a:prstGeom>
          <a:noFill/>
        </p:spPr>
        <p:txBody>
          <a:bodyPr wrap="square" lIns="13716" rIns="13716" tIns="9144" bIns="9144">
            <a:spAutoFit/>
          </a:bodyPr>
          <a:lstStyle/>
          <a:p>
            <a:pPr>
              <a:spcAft>
                <a:spcPts val="800"/>
              </a:spcAft>
              <a:defRPr sz="2300" b="1">
                <a:solidFill>
                  <a:srgbClr val="007F86"/>
                </a:solidFill>
                <a:latin typeface="DejaVu Sans"/>
              </a:defRPr>
            </a:pPr>
            <a:r>
              <a:t>03</a:t>
            </a:r>
          </a:p>
        </p:txBody>
      </p:sp>
      <p:sp>
        <p:nvSpPr>
          <p:cNvPr id="14" name="TextBox 13"/>
          <p:cNvSpPr txBox="1"/>
          <p:nvPr/>
        </p:nvSpPr>
        <p:spPr>
          <a:xfrm>
            <a:off x="1463040" y="4032504"/>
            <a:ext cx="9848088" cy="393192"/>
          </a:xfrm>
          <a:prstGeom prst="rect">
            <a:avLst/>
          </a:prstGeom>
          <a:noFill/>
        </p:spPr>
        <p:txBody>
          <a:bodyPr wrap="square" lIns="13716" rIns="13716" tIns="9144" bIns="9144">
            <a:spAutoFit/>
          </a:bodyPr>
          <a:lstStyle/>
          <a:p>
            <a:pPr>
              <a:spcAft>
                <a:spcPts val="800"/>
              </a:spcAft>
              <a:defRPr sz="2100" b="1">
                <a:solidFill>
                  <a:srgbClr val="142D42"/>
                </a:solidFill>
                <a:latin typeface="DejaVu Sans"/>
              </a:defRPr>
            </a:pPr>
            <a:r>
              <a:t>Identische Daten auswerten</a:t>
            </a:r>
          </a:p>
        </p:txBody>
      </p:sp>
      <p:sp>
        <p:nvSpPr>
          <p:cNvPr id="15" name="TextBox 14"/>
          <p:cNvSpPr txBox="1"/>
          <p:nvPr/>
        </p:nvSpPr>
        <p:spPr>
          <a:xfrm>
            <a:off x="1463040" y="4453128"/>
            <a:ext cx="9848088" cy="393192"/>
          </a:xfrm>
          <a:prstGeom prst="rect">
            <a:avLst/>
          </a:prstGeom>
          <a:noFill/>
        </p:spPr>
        <p:txBody>
          <a:bodyPr wrap="square" lIns="13716" rIns="13716" tIns="9144" bIns="9144">
            <a:spAutoFit/>
          </a:bodyPr>
          <a:lstStyle/>
          <a:p>
            <a:pPr>
              <a:spcAft>
                <a:spcPts val="800"/>
              </a:spcAft>
              <a:defRPr sz="1600" b="0">
                <a:solidFill>
                  <a:srgbClr val="587084"/>
                </a:solidFill>
                <a:latin typeface="DejaVu Sans"/>
              </a:defRPr>
            </a:pPr>
            <a:r>
              <a:t>Replay: Alarmfenster vergleichen; Zeitreferenz transparent behandeln.</a:t>
            </a:r>
          </a:p>
        </p:txBody>
      </p:sp>
      <p:sp>
        <p:nvSpPr>
          <p:cNvPr id="16" name="TextBox 15"/>
          <p:cNvSpPr txBox="1"/>
          <p:nvPr/>
        </p:nvSpPr>
        <p:spPr>
          <a:xfrm>
            <a:off x="603504" y="4983480"/>
            <a:ext cx="594360" cy="393192"/>
          </a:xfrm>
          <a:prstGeom prst="rect">
            <a:avLst/>
          </a:prstGeom>
          <a:noFill/>
        </p:spPr>
        <p:txBody>
          <a:bodyPr wrap="square" lIns="13716" rIns="13716" tIns="9144" bIns="9144">
            <a:spAutoFit/>
          </a:bodyPr>
          <a:lstStyle/>
          <a:p>
            <a:pPr>
              <a:spcAft>
                <a:spcPts val="800"/>
              </a:spcAft>
              <a:defRPr sz="2300" b="1">
                <a:solidFill>
                  <a:srgbClr val="007F86"/>
                </a:solidFill>
                <a:latin typeface="DejaVu Sans"/>
              </a:defRPr>
            </a:pPr>
            <a:r>
              <a:t>04</a:t>
            </a:r>
          </a:p>
        </p:txBody>
      </p:sp>
      <p:sp>
        <p:nvSpPr>
          <p:cNvPr id="17" name="TextBox 16"/>
          <p:cNvSpPr txBox="1"/>
          <p:nvPr/>
        </p:nvSpPr>
        <p:spPr>
          <a:xfrm>
            <a:off x="1463040" y="4919472"/>
            <a:ext cx="9848088" cy="393192"/>
          </a:xfrm>
          <a:prstGeom prst="rect">
            <a:avLst/>
          </a:prstGeom>
          <a:noFill/>
        </p:spPr>
        <p:txBody>
          <a:bodyPr wrap="square" lIns="13716" rIns="13716" tIns="9144" bIns="9144">
            <a:spAutoFit/>
          </a:bodyPr>
          <a:lstStyle/>
          <a:p>
            <a:pPr>
              <a:spcAft>
                <a:spcPts val="800"/>
              </a:spcAft>
              <a:defRPr sz="2100" b="1">
                <a:solidFill>
                  <a:srgbClr val="142D42"/>
                </a:solidFill>
                <a:latin typeface="DejaVu Sans"/>
              </a:defRPr>
            </a:pPr>
            <a:r>
              <a:t>Ergebnisse präsentieren</a:t>
            </a:r>
          </a:p>
        </p:txBody>
      </p:sp>
      <p:sp>
        <p:nvSpPr>
          <p:cNvPr id="18" name="TextBox 17"/>
          <p:cNvSpPr txBox="1"/>
          <p:nvPr/>
        </p:nvSpPr>
        <p:spPr>
          <a:xfrm>
            <a:off x="1463040" y="5340096"/>
            <a:ext cx="9848088" cy="393192"/>
          </a:xfrm>
          <a:prstGeom prst="rect">
            <a:avLst/>
          </a:prstGeom>
          <a:noFill/>
        </p:spPr>
        <p:txBody>
          <a:bodyPr wrap="square" lIns="13716" rIns="13716" tIns="9144" bIns="9144">
            <a:spAutoFit/>
          </a:bodyPr>
          <a:lstStyle/>
          <a:p>
            <a:pPr>
              <a:spcAft>
                <a:spcPts val="800"/>
              </a:spcAft>
              <a:defRPr sz="1600" b="0">
                <a:solidFill>
                  <a:srgbClr val="587084"/>
                </a:solidFill>
                <a:latin typeface="DejaVu Sans"/>
              </a:defRPr>
            </a:pPr>
            <a:r>
              <a:t>Diagramme, Einzelereignisse und Grenzen; später Wiederholungen.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Handyvibration auf dem Raspberry Pi – Vorbereitungsstand</dc:title>
  <dc:subject>Techniktest, Versuchsdesign und Evidenzgrenzen</dc:subject>
  <dc:creator>Masterarbeit Edge AI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