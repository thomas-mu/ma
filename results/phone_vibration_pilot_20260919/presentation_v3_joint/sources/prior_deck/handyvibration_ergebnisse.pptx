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drei ausgewählten Live-Aufnahmen enthalten Alarmfenster zwischen Anruf-Freigabe und Ende-Rückmeldung; vollständig davor und danach liegen keine Alarmfenster. Physischer Vibrationsbeginn ist nicht gemessen. Im Offline-Replay identischer Daten: zweimal Gleichstand auf Fensterauflösung, einmal Autoencoder ein Fenster früher. Nur drei Einzelereignisse, keine statistische Rangfolge. Externe Tischvibration ist kein belegter Lüfterdefekt. Quellen: sources/trials/*/{run.json,decisions.csv,cues.jsonl}, replay_v1/summary.json.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ADXL345, nominal 200 Hz; Fenstergröße und Schrittweite 128, nominal 0,64 s. Zeitstempel sind Host-Lesezeitstempel. Pro Lauf nur eine Methode, ohne Live-GUI, mit 20 Aufwärmfenstern und derselben Erfassungsversion. AE: Rekonstruktions-MSE; IF: negatives score_samples; RMS: quadratischer Mittelwert nach Standardisierung. Schwellen: P99 der normalen Validierung (97 Fenster); AE übernimmt die eingefrorene Keras-Kalibrierung. Validierung wurde beim AE auch für Early Stopping verwendet. Schwellen wurden nicht auf den Anrufen angepasst. Endgültiger Handyaufbau und Übertragbarkeit der Kalibrierung bleiben unbestätigt. Quellen: plan.json, bundle/bundle.json.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Kurve gehört zu einem anderen Anruf und zur jeweils live aktiven Methode. Die x-Achse beginnt pro Aufnahme neu. Gestrichelt bei 1 liegt die eigene Schwelle; Score/Schwelle ist keine Wahrscheinlichkeit und keine gleiche Sensitivität. Graue Bereiche sind Chat-Markierungen, keine Ground Truth. Ein fehlender Alarm außerhalb ist kein Nachweis einer allgemeinen Fehlalarmrate. Vollständige Fenster: AE 184, IF 196, RMS 234. Quelle: decisions.csv und cues.jsonl.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Offline-Replay, keine zusätzliche Live-Aufnahme und kein Zeitbenchmark. Original-Fenstergrenzen wurden über window_index sowie erste/letzte Zeitstempel geprüft. Erste Alarmfenster vollständig zwischen den Chat-Markierungen: Aufnahme A: AE/IF/RMS jeweils 97; B: AE 93, IF/RMS 94; C: alle 155. Vor der Freigabe keine Alarme in allen neun Kombinationen. Gleiche Fensternummer bedeutet Gleichstand; Laufzeit ist kein Tie-Break. Reproduktion der 614 Original-Live-Entscheidungen ohne Abweichung, maximale Scoreabweichung 0. Ein Fenster Vorsprung ist nicht die absolute Verzögerung ab physischem Beginn. Quelle: replay_v1/summary.json und decisions.csv.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AE 11, IF 6, RMS 6 Alarmfenster. Replay-Matrix Zeilen A/B/C, Spalten AE/IF/RMS: 11/6/8, 9/6/6, 9/6/6. Alle Replay-Alarme liegen vollständig zwischen den Chat-Markierungen. Ein Anruf kann mehrere intermittierende Vibrationsimpulse und mehrere Alarmfenster erzeugen. Fenster sind keine unabhängigen Ereignisse. Nicht aus 11 gegenüber 6 eine bessere Trefferquote ableiten. Fensterzahlen und Dauern unterscheiden sich. Keine physisch referenzierte Ereignis-Erkennungsrate verfügbar.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processing_ms umfasst Standardisierung, Scoreberechnung und Entscheidung nach Fensterentnahme. Nicht nur reine Modell-Inferenz, nicht Wartezeit auf ein vollständiges Fenster. Dargestellt Median und P95 aller gültigen Fenster. P95 bedeutet 95 % der gemessenen Werte liegen darunter oder gleich. Drei getrennte Läufe, keine Wiederholungen; CPU-Takt dynamisch 1,5 bis 2,4 GHz. Die isolierte Algorithmuslaufzeit wurde nicht unter fixierter Systemumgebung gemessen. Quelle: ausgewählte decisions.csv, processing_ms. Kürzere Berechnung garantiert kein früheres Alarmfenster.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ist der Median der intervallweise erfassten Prozesswerte: 100 % entspricht einem Kern, nicht dem gesamten Pi. Keine zeitgewichtete Gesamtauslastung und kein systemweiter Energieverbrauch. RAM ist maximale abgetastete RSS während der Aufnahme, nicht Start-Peak oder inkrementeller Modellbedarf. Keine Baseline-Subtraktion. Erfassung lief jeweils allein; bestehende Betriebssystem-/Editorprozesse bleiben Umgebungseinflüsse. Temperatur und dynamischer CPU-Takt wurden protokolliert; keine kontrollierten Wiederholungen. Keine Messung elektrischer Leistungsaufnahme. Quelle: decisions.csv, Prozessfelder.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gezeigt: Autoencoder-Bericht. Für alle drei ausgewählten Läufe liegen report_screenshot/report.png, report.html, browser.log und evidence.json vor. Screenshots wurden wirklich mit Chromium gerendert; Quell- und Bildhashes sind archiviert. Die Plots selbst sind CSV-basierte Exporte. Alle Originaldaten einschließlich zurückgesetzter Anläufe bleiben erhalten. Vollständige Dateien in sources/trials/.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sechs Versuche: AE01 170 Fenster/30 Alarme, AE02 158/12 mit einem ungültigen Fenster, AE03 184/11; IF01 154/7, IF02 196/6; RMS01 234/6. Nutzer bat bei AE01/02 und IF01 um Wiederholung; keine Löschung. Die Auswahl sauber koordinierter Versuche ist kein Nachweis allgemeiner Fehlalarmfreiheit. Chat-Cues messen keinen physischen Beginn; Handyposition/Befestigung/Muster sind nicht unabhängig dokumentiert. Das Profil stammt aus früherem 75-%-Standlauf; bundle measurement_chain_status=unverified_legacy. Fehlende Wiederholungen, wechselnder Takt, Reihenfolge AE→IF→RMS und ungleiche Stimuli begrenzen Schlussfolgerungen. Die geprüften digitalen Qualitätsflags waren in den drei ausgewählten Läufen unauffällig, beweisen aber keine vollständig validierte Messkette.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Kernaussage: Alle drei Methoden reagierten im jeweils ausgewählten Anrufintervall. Im gleichen Datenstrom gab es zwei Gleichstände und einmal einen Vorsprung von einem Fenster für AE. RMS hatte die geringste beobachtete Berechnungszeit, IF die höchste Prozess-RSS. Das belegt keine allgemeine Gewinner-Methode. Nächste wissenschaftliche Schritte: Aufbau dokumentieren und mit Normaldaten validieren; unabhängige physische Start-/Endreferenz, wiederholte reproduzierbare Stimuli, Reihenfolge wechseln; Ressourcen separat mit kontrollierter Umgebung und gleicher Laufzeit testen. Diese Schritte sind Empfehlungen, nicht bereits erledigt. Präsentation und Rohdaten sind getrennt von der Vorbereitung versioniert.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ERGEBNISÜBERBLICK</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Drei Methoden erkennen die eingebrachte Störung</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Explorativer Handyvibrations-Pilot auf dem Raspberry Pi 5 – keine allgemeine Güte- oder Defektdiagnose.</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01</a:t>
            </a:r>
          </a:p>
        </p:txBody>
      </p:sp>
      <p:sp>
        <p:nvSpPr>
          <p:cNvPr id="7" name="Rounded Rectangle 6"/>
          <p:cNvSpPr/>
          <p:nvPr/>
        </p:nvSpPr>
        <p:spPr>
          <a:xfrm>
            <a:off x="502920" y="2240280"/>
            <a:ext cx="6766560" cy="36118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60320"/>
            <a:ext cx="6217920" cy="1051560"/>
          </a:xfrm>
          <a:prstGeom prst="rect">
            <a:avLst/>
          </a:prstGeom>
          <a:noFill/>
        </p:spPr>
        <p:txBody>
          <a:bodyPr wrap="square" lIns="13716" rIns="13716" tIns="9144" bIns="9144">
            <a:spAutoFit/>
          </a:bodyPr>
          <a:lstStyle/>
          <a:p>
            <a:pPr>
              <a:spcAft>
                <a:spcPts val="800"/>
              </a:spcAft>
              <a:defRPr sz="2600" b="1">
                <a:solidFill>
                  <a:srgbClr val="142D42"/>
                </a:solidFill>
                <a:latin typeface="DejaVu Sans"/>
              </a:defRPr>
            </a:pPr>
            <a:r>
              <a:t>Zweimal Gleichstand.</a:t>
            </a:r>
          </a:p>
          <a:p>
            <a:pPr>
              <a:spcAft>
                <a:spcPts val="800"/>
              </a:spcAft>
              <a:defRPr sz="2600" b="1">
                <a:solidFill>
                  <a:srgbClr val="142D42"/>
                </a:solidFill>
                <a:latin typeface="DejaVu Sans"/>
              </a:defRPr>
            </a:pPr>
            <a:r>
              <a:t>Einmal AE ein Fenster früher.</a:t>
            </a:r>
          </a:p>
        </p:txBody>
      </p:sp>
      <p:sp>
        <p:nvSpPr>
          <p:cNvPr id="9" name="TextBox 8"/>
          <p:cNvSpPr txBox="1"/>
          <p:nvPr/>
        </p:nvSpPr>
        <p:spPr>
          <a:xfrm>
            <a:off x="777240" y="3977639"/>
            <a:ext cx="6126480" cy="1554480"/>
          </a:xfrm>
          <a:prstGeom prst="rect">
            <a:avLst/>
          </a:prstGeom>
          <a:noFill/>
        </p:spPr>
        <p:txBody>
          <a:bodyPr wrap="square" lIns="13716" rIns="13716" tIns="9144" bIns="9144">
            <a:spAutoFit/>
          </a:bodyPr>
          <a:lstStyle/>
          <a:p>
            <a:pPr>
              <a:spcAft>
                <a:spcPts val="800"/>
              </a:spcAft>
              <a:defRPr sz="2000" b="0">
                <a:solidFill>
                  <a:srgbClr val="142D42"/>
                </a:solidFill>
                <a:latin typeface="DejaVu Sans"/>
              </a:defRPr>
            </a:pPr>
            <a:r>
              <a:t>Vergleich auf identischen Rohdaten</a:t>
            </a:r>
          </a:p>
          <a:p>
            <a:pPr>
              <a:spcAft>
                <a:spcPts val="800"/>
              </a:spcAft>
              <a:defRPr sz="2000" b="0">
                <a:solidFill>
                  <a:srgbClr val="142D42"/>
                </a:solidFill>
                <a:latin typeface="DejaVu Sans"/>
              </a:defRPr>
            </a:pPr>
            <a:r>
              <a:t>RMS: kürzeste beobachtete Berechnung</a:t>
            </a:r>
          </a:p>
          <a:p>
            <a:pPr>
              <a:spcAft>
                <a:spcPts val="800"/>
              </a:spcAft>
              <a:defRPr sz="2000" b="0">
                <a:solidFill>
                  <a:srgbClr val="142D42"/>
                </a:solidFill>
                <a:latin typeface="DejaVu Sans"/>
              </a:defRPr>
            </a:pPr>
            <a:r>
              <a:t>IF: höhere beobachtete Prozesslast</a:t>
            </a:r>
          </a:p>
        </p:txBody>
      </p:sp>
      <p:sp>
        <p:nvSpPr>
          <p:cNvPr id="10" name="Rounded Rectangle 9"/>
          <p:cNvSpPr/>
          <p:nvPr/>
        </p:nvSpPr>
        <p:spPr>
          <a:xfrm>
            <a:off x="7543800" y="2240280"/>
            <a:ext cx="4114800" cy="1024128"/>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2368296"/>
            <a:ext cx="1371600" cy="521207"/>
          </a:xfrm>
          <a:prstGeom prst="rect">
            <a:avLst/>
          </a:prstGeom>
          <a:noFill/>
        </p:spPr>
        <p:txBody>
          <a:bodyPr wrap="square" lIns="13716" rIns="13716" tIns="9144" bIns="9144">
            <a:spAutoFit/>
          </a:bodyPr>
          <a:lstStyle/>
          <a:p>
            <a:pPr>
              <a:spcAft>
                <a:spcPts val="800"/>
              </a:spcAft>
              <a:defRPr sz="2700" b="1">
                <a:solidFill>
                  <a:srgbClr val="007F86"/>
                </a:solidFill>
                <a:latin typeface="DejaVu Sans"/>
              </a:defRPr>
            </a:pPr>
            <a:r>
              <a:t>3</a:t>
            </a:r>
          </a:p>
        </p:txBody>
      </p:sp>
      <p:sp>
        <p:nvSpPr>
          <p:cNvPr id="12" name="TextBox 11"/>
          <p:cNvSpPr txBox="1"/>
          <p:nvPr/>
        </p:nvSpPr>
        <p:spPr>
          <a:xfrm>
            <a:off x="9189720" y="2377440"/>
            <a:ext cx="2194560" cy="640080"/>
          </a:xfrm>
          <a:prstGeom prst="rect">
            <a:avLst/>
          </a:prstGeom>
          <a:noFill/>
        </p:spPr>
        <p:txBody>
          <a:bodyPr wrap="square" lIns="13716" rIns="13716" tIns="9144" bIns="9144">
            <a:spAutoFit/>
          </a:bodyPr>
          <a:lstStyle/>
          <a:p>
            <a:pPr>
              <a:spcAft>
                <a:spcPts val="800"/>
              </a:spcAft>
              <a:defRPr sz="1500" b="0">
                <a:solidFill>
                  <a:srgbClr val="142D42"/>
                </a:solidFill>
                <a:latin typeface="DejaVu Sans"/>
              </a:defRPr>
            </a:pPr>
            <a:r>
              <a:t>ausgewählte Anrufversuche</a:t>
            </a:r>
          </a:p>
        </p:txBody>
      </p:sp>
      <p:sp>
        <p:nvSpPr>
          <p:cNvPr id="13" name="Rounded Rectangle 12"/>
          <p:cNvSpPr/>
          <p:nvPr/>
        </p:nvSpPr>
        <p:spPr>
          <a:xfrm>
            <a:off x="7543800" y="3447288"/>
            <a:ext cx="4114800" cy="1024128"/>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3575304"/>
            <a:ext cx="1371600" cy="521207"/>
          </a:xfrm>
          <a:prstGeom prst="rect">
            <a:avLst/>
          </a:prstGeom>
          <a:noFill/>
        </p:spPr>
        <p:txBody>
          <a:bodyPr wrap="square" lIns="13716" rIns="13716" tIns="9144" bIns="9144">
            <a:spAutoFit/>
          </a:bodyPr>
          <a:lstStyle/>
          <a:p>
            <a:pPr>
              <a:spcAft>
                <a:spcPts val="800"/>
              </a:spcAft>
              <a:defRPr sz="2700" b="1">
                <a:solidFill>
                  <a:srgbClr val="007F86"/>
                </a:solidFill>
                <a:latin typeface="DejaVu Sans"/>
              </a:defRPr>
            </a:pPr>
            <a:r>
              <a:t>614</a:t>
            </a:r>
          </a:p>
        </p:txBody>
      </p:sp>
      <p:sp>
        <p:nvSpPr>
          <p:cNvPr id="15" name="TextBox 14"/>
          <p:cNvSpPr txBox="1"/>
          <p:nvPr/>
        </p:nvSpPr>
        <p:spPr>
          <a:xfrm>
            <a:off x="9189720" y="3584448"/>
            <a:ext cx="2194560" cy="640080"/>
          </a:xfrm>
          <a:prstGeom prst="rect">
            <a:avLst/>
          </a:prstGeom>
          <a:noFill/>
        </p:spPr>
        <p:txBody>
          <a:bodyPr wrap="square" lIns="13716" rIns="13716" tIns="9144" bIns="9144">
            <a:spAutoFit/>
          </a:bodyPr>
          <a:lstStyle/>
          <a:p>
            <a:pPr>
              <a:spcAft>
                <a:spcPts val="800"/>
              </a:spcAft>
              <a:defRPr sz="1500" b="0">
                <a:solidFill>
                  <a:srgbClr val="142D42"/>
                </a:solidFill>
                <a:latin typeface="DejaVu Sans"/>
              </a:defRPr>
            </a:pPr>
            <a:r>
              <a:t>gültige Live-Fenster</a:t>
            </a:r>
          </a:p>
        </p:txBody>
      </p:sp>
      <p:sp>
        <p:nvSpPr>
          <p:cNvPr id="16" name="Rounded Rectangle 15"/>
          <p:cNvSpPr/>
          <p:nvPr/>
        </p:nvSpPr>
        <p:spPr>
          <a:xfrm>
            <a:off x="7543800" y="4654296"/>
            <a:ext cx="4114800" cy="1024128"/>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4782312"/>
            <a:ext cx="1371600" cy="521207"/>
          </a:xfrm>
          <a:prstGeom prst="rect">
            <a:avLst/>
          </a:prstGeom>
          <a:noFill/>
        </p:spPr>
        <p:txBody>
          <a:bodyPr wrap="square" lIns="13716" rIns="13716" tIns="9144" bIns="9144">
            <a:spAutoFit/>
          </a:bodyPr>
          <a:lstStyle/>
          <a:p>
            <a:pPr>
              <a:spcAft>
                <a:spcPts val="800"/>
              </a:spcAft>
              <a:defRPr sz="2700" b="1">
                <a:solidFill>
                  <a:srgbClr val="007F86"/>
                </a:solidFill>
                <a:latin typeface="DejaVu Sans"/>
              </a:defRPr>
            </a:pPr>
            <a:r>
              <a:t>75 %</a:t>
            </a:r>
          </a:p>
        </p:txBody>
      </p:sp>
      <p:sp>
        <p:nvSpPr>
          <p:cNvPr id="18" name="TextBox 17"/>
          <p:cNvSpPr txBox="1"/>
          <p:nvPr/>
        </p:nvSpPr>
        <p:spPr>
          <a:xfrm>
            <a:off x="9189720" y="4791456"/>
            <a:ext cx="2194560" cy="640080"/>
          </a:xfrm>
          <a:prstGeom prst="rect">
            <a:avLst/>
          </a:prstGeom>
          <a:noFill/>
        </p:spPr>
        <p:txBody>
          <a:bodyPr wrap="square" lIns="13716" rIns="13716" tIns="9144" bIns="9144">
            <a:spAutoFit/>
          </a:bodyPr>
          <a:lstStyle/>
          <a:p>
            <a:pPr>
              <a:spcAft>
                <a:spcPts val="800"/>
              </a:spcAft>
              <a:defRPr sz="1500" b="0">
                <a:solidFill>
                  <a:srgbClr val="142D42"/>
                </a:solidFill>
                <a:latin typeface="DejaVu Sans"/>
              </a:defRPr>
            </a:pPr>
            <a:r>
              <a:t>PWM, keine Drehzahlmessung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MESSPRINZIP UND KALIBRIERUNG</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Gemeinsame Messkette, eingefrorene Schwellen</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Sensor → 128 × 3 Werte → Trainingsskalierung → eine Methode → Score &gt; Schwelle ergibt Alarm.</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02</a:t>
            </a:r>
          </a:p>
        </p:txBody>
      </p:sp>
      <p:sp>
        <p:nvSpPr>
          <p:cNvPr id="7" name="Rounded Rectangle 6"/>
          <p:cNvSpPr/>
          <p:nvPr/>
        </p:nvSpPr>
        <p:spPr>
          <a:xfrm>
            <a:off x="502920" y="2331720"/>
            <a:ext cx="3575304"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560320"/>
            <a:ext cx="3209544" cy="411480"/>
          </a:xfrm>
          <a:prstGeom prst="rect">
            <a:avLst/>
          </a:prstGeom>
          <a:noFill/>
        </p:spPr>
        <p:txBody>
          <a:bodyPr wrap="square" lIns="13716" rIns="13716" tIns="9144" bIns="9144">
            <a:spAutoFit/>
          </a:bodyPr>
          <a:lstStyle/>
          <a:p>
            <a:pPr>
              <a:spcAft>
                <a:spcPts val="800"/>
              </a:spcAft>
              <a:defRPr sz="2100" b="1">
                <a:solidFill>
                  <a:srgbClr val="007F86"/>
                </a:solidFill>
                <a:latin typeface="DejaVu Sans"/>
              </a:defRPr>
            </a:pPr>
            <a:r>
              <a:t>Autoencoder</a:t>
            </a:r>
          </a:p>
        </p:txBody>
      </p:sp>
      <p:sp>
        <p:nvSpPr>
          <p:cNvPr id="9" name="TextBox 8"/>
          <p:cNvSpPr txBox="1"/>
          <p:nvPr/>
        </p:nvSpPr>
        <p:spPr>
          <a:xfrm>
            <a:off x="685800" y="3200400"/>
            <a:ext cx="3209544" cy="822960"/>
          </a:xfrm>
          <a:prstGeom prst="rect">
            <a:avLst/>
          </a:prstGeom>
          <a:noFill/>
        </p:spPr>
        <p:txBody>
          <a:bodyPr wrap="square" lIns="13716" rIns="13716" tIns="9144" bIns="9144">
            <a:spAutoFit/>
          </a:bodyPr>
          <a:lstStyle/>
          <a:p>
            <a:pPr>
              <a:spcAft>
                <a:spcPts val="800"/>
              </a:spcAft>
              <a:defRPr sz="1800" b="0">
                <a:solidFill>
                  <a:srgbClr val="142D42"/>
                </a:solidFill>
                <a:latin typeface="DejaVu Sans"/>
              </a:defRPr>
            </a:pPr>
            <a:r>
              <a:t>Rekonstruktionsfehler</a:t>
            </a:r>
          </a:p>
          <a:p>
            <a:pPr>
              <a:spcAft>
                <a:spcPts val="800"/>
              </a:spcAft>
              <a:defRPr sz="1800" b="0">
                <a:solidFill>
                  <a:srgbClr val="142D42"/>
                </a:solidFill>
                <a:latin typeface="DejaVu Sans"/>
              </a:defRPr>
            </a:pPr>
            <a:r>
              <a:t>MSE über 384 Werte</a:t>
            </a:r>
          </a:p>
        </p:txBody>
      </p:sp>
      <p:sp>
        <p:nvSpPr>
          <p:cNvPr id="10" name="TextBox 9"/>
          <p:cNvSpPr txBox="1"/>
          <p:nvPr/>
        </p:nvSpPr>
        <p:spPr>
          <a:xfrm>
            <a:off x="685800" y="4041648"/>
            <a:ext cx="3209544" cy="320040"/>
          </a:xfrm>
          <a:prstGeom prst="rect">
            <a:avLst/>
          </a:prstGeom>
          <a:noFill/>
        </p:spPr>
        <p:txBody>
          <a:bodyPr wrap="square" lIns="13716" rIns="13716" tIns="9144" bIns="9144">
            <a:spAutoFit/>
          </a:bodyPr>
          <a:lstStyle/>
          <a:p>
            <a:pPr>
              <a:spcAft>
                <a:spcPts val="800"/>
              </a:spcAft>
              <a:defRPr sz="1600" b="1">
                <a:solidFill>
                  <a:srgbClr val="142D42"/>
                </a:solidFill>
                <a:latin typeface="DejaVu Sans"/>
              </a:defRPr>
            </a:pPr>
            <a:r>
              <a:t>Schwelle 0,477203</a:t>
            </a:r>
          </a:p>
        </p:txBody>
      </p:sp>
      <p:sp>
        <p:nvSpPr>
          <p:cNvPr id="11" name="Rounded Rectangle 10"/>
          <p:cNvSpPr/>
          <p:nvPr/>
        </p:nvSpPr>
        <p:spPr>
          <a:xfrm>
            <a:off x="4297680" y="2331720"/>
            <a:ext cx="3575304"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560320"/>
            <a:ext cx="3209544" cy="411480"/>
          </a:xfrm>
          <a:prstGeom prst="rect">
            <a:avLst/>
          </a:prstGeom>
          <a:noFill/>
        </p:spPr>
        <p:txBody>
          <a:bodyPr wrap="square" lIns="13716" rIns="13716" tIns="9144" bIns="9144">
            <a:spAutoFit/>
          </a:bodyPr>
          <a:lstStyle/>
          <a:p>
            <a:pPr>
              <a:spcAft>
                <a:spcPts val="800"/>
              </a:spcAft>
              <a:defRPr sz="2100" b="1">
                <a:solidFill>
                  <a:srgbClr val="7454C4"/>
                </a:solidFill>
                <a:latin typeface="DejaVu Sans"/>
              </a:defRPr>
            </a:pPr>
            <a:r>
              <a:t>Isolation Forest</a:t>
            </a:r>
          </a:p>
        </p:txBody>
      </p:sp>
      <p:sp>
        <p:nvSpPr>
          <p:cNvPr id="13" name="TextBox 12"/>
          <p:cNvSpPr txBox="1"/>
          <p:nvPr/>
        </p:nvSpPr>
        <p:spPr>
          <a:xfrm>
            <a:off x="4480560" y="3200400"/>
            <a:ext cx="3209544" cy="822960"/>
          </a:xfrm>
          <a:prstGeom prst="rect">
            <a:avLst/>
          </a:prstGeom>
          <a:noFill/>
        </p:spPr>
        <p:txBody>
          <a:bodyPr wrap="square" lIns="13716" rIns="13716" tIns="9144" bIns="9144">
            <a:spAutoFit/>
          </a:bodyPr>
          <a:lstStyle/>
          <a:p>
            <a:pPr>
              <a:spcAft>
                <a:spcPts val="800"/>
              </a:spcAft>
              <a:defRPr sz="1800" b="0">
                <a:solidFill>
                  <a:srgbClr val="142D42"/>
                </a:solidFill>
                <a:latin typeface="DejaVu Sans"/>
              </a:defRPr>
            </a:pPr>
            <a:r>
              <a:t>Ausreißerbewertung</a:t>
            </a:r>
          </a:p>
          <a:p>
            <a:pPr>
              <a:spcAft>
                <a:spcPts val="800"/>
              </a:spcAft>
              <a:defRPr sz="1800" b="0">
                <a:solidFill>
                  <a:srgbClr val="142D42"/>
                </a:solidFill>
                <a:latin typeface="DejaVu Sans"/>
              </a:defRPr>
            </a:pPr>
            <a:r>
              <a:t>−score_samples</a:t>
            </a:r>
          </a:p>
        </p:txBody>
      </p:sp>
      <p:sp>
        <p:nvSpPr>
          <p:cNvPr id="14" name="TextBox 13"/>
          <p:cNvSpPr txBox="1"/>
          <p:nvPr/>
        </p:nvSpPr>
        <p:spPr>
          <a:xfrm>
            <a:off x="4480560" y="4041648"/>
            <a:ext cx="3209544" cy="320040"/>
          </a:xfrm>
          <a:prstGeom prst="rect">
            <a:avLst/>
          </a:prstGeom>
          <a:noFill/>
        </p:spPr>
        <p:txBody>
          <a:bodyPr wrap="square" lIns="13716" rIns="13716" tIns="9144" bIns="9144">
            <a:spAutoFit/>
          </a:bodyPr>
          <a:lstStyle/>
          <a:p>
            <a:pPr>
              <a:spcAft>
                <a:spcPts val="800"/>
              </a:spcAft>
              <a:defRPr sz="1600" b="1">
                <a:solidFill>
                  <a:srgbClr val="142D42"/>
                </a:solidFill>
                <a:latin typeface="DejaVu Sans"/>
              </a:defRPr>
            </a:pPr>
            <a:r>
              <a:t>Schwelle 0,483355</a:t>
            </a:r>
          </a:p>
        </p:txBody>
      </p:sp>
      <p:sp>
        <p:nvSpPr>
          <p:cNvPr id="15" name="Rounded Rectangle 14"/>
          <p:cNvSpPr/>
          <p:nvPr/>
        </p:nvSpPr>
        <p:spPr>
          <a:xfrm>
            <a:off x="8092440" y="2331720"/>
            <a:ext cx="3575304"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560320"/>
            <a:ext cx="3209544" cy="411480"/>
          </a:xfrm>
          <a:prstGeom prst="rect">
            <a:avLst/>
          </a:prstGeom>
          <a:noFill/>
        </p:spPr>
        <p:txBody>
          <a:bodyPr wrap="square" lIns="13716" rIns="13716" tIns="9144" bIns="9144">
            <a:spAutoFit/>
          </a:bodyPr>
          <a:lstStyle/>
          <a:p>
            <a:pPr>
              <a:spcAft>
                <a:spcPts val="800"/>
              </a:spcAft>
              <a:defRPr sz="2100" b="1">
                <a:solidFill>
                  <a:srgbClr val="D67B19"/>
                </a:solidFill>
                <a:latin typeface="DejaVu Sans"/>
              </a:defRPr>
            </a:pPr>
            <a:r>
              <a:t>RMS</a:t>
            </a:r>
          </a:p>
        </p:txBody>
      </p:sp>
      <p:sp>
        <p:nvSpPr>
          <p:cNvPr id="17" name="TextBox 16"/>
          <p:cNvSpPr txBox="1"/>
          <p:nvPr/>
        </p:nvSpPr>
        <p:spPr>
          <a:xfrm>
            <a:off x="8275320" y="3200400"/>
            <a:ext cx="3209544" cy="822960"/>
          </a:xfrm>
          <a:prstGeom prst="rect">
            <a:avLst/>
          </a:prstGeom>
          <a:noFill/>
        </p:spPr>
        <p:txBody>
          <a:bodyPr wrap="square" lIns="13716" rIns="13716" tIns="9144" bIns="9144">
            <a:spAutoFit/>
          </a:bodyPr>
          <a:lstStyle/>
          <a:p>
            <a:pPr>
              <a:spcAft>
                <a:spcPts val="800"/>
              </a:spcAft>
              <a:defRPr sz="1800" b="0">
                <a:solidFill>
                  <a:srgbClr val="142D42"/>
                </a:solidFill>
                <a:latin typeface="DejaVu Sans"/>
              </a:defRPr>
            </a:pPr>
            <a:r>
              <a:t>Signalstärke</a:t>
            </a:r>
          </a:p>
          <a:p>
            <a:pPr>
              <a:spcAft>
                <a:spcPts val="800"/>
              </a:spcAft>
              <a:defRPr sz="1800" b="0">
                <a:solidFill>
                  <a:srgbClr val="142D42"/>
                </a:solidFill>
                <a:latin typeface="DejaVu Sans"/>
              </a:defRPr>
            </a:pPr>
            <a:r>
              <a:t>RMS nach Skalierung</a:t>
            </a:r>
          </a:p>
        </p:txBody>
      </p:sp>
      <p:sp>
        <p:nvSpPr>
          <p:cNvPr id="18" name="TextBox 17"/>
          <p:cNvSpPr txBox="1"/>
          <p:nvPr/>
        </p:nvSpPr>
        <p:spPr>
          <a:xfrm>
            <a:off x="8275320" y="4041648"/>
            <a:ext cx="3209544" cy="320040"/>
          </a:xfrm>
          <a:prstGeom prst="rect">
            <a:avLst/>
          </a:prstGeom>
          <a:noFill/>
        </p:spPr>
        <p:txBody>
          <a:bodyPr wrap="square" lIns="13716" rIns="13716" tIns="9144" bIns="9144">
            <a:spAutoFit/>
          </a:bodyPr>
          <a:lstStyle/>
          <a:p>
            <a:pPr>
              <a:spcAft>
                <a:spcPts val="800"/>
              </a:spcAft>
              <a:defRPr sz="1600" b="1">
                <a:solidFill>
                  <a:srgbClr val="142D42"/>
                </a:solidFill>
                <a:latin typeface="DejaVu Sans"/>
              </a:defRPr>
            </a:pPr>
            <a:r>
              <a:t>Schwelle 1,296361</a:t>
            </a:r>
          </a:p>
        </p:txBody>
      </p:sp>
      <p:sp>
        <p:nvSpPr>
          <p:cNvPr id="19" name="Rounded Rectangle 18"/>
          <p:cNvSpPr/>
          <p:nvPr/>
        </p:nvSpPr>
        <p:spPr>
          <a:xfrm>
            <a:off x="502920" y="4846320"/>
            <a:ext cx="11155680" cy="1060704"/>
          </a:xfrm>
          <a:prstGeom prst="roundRect">
            <a:avLst>
              <a:gd name="adj" fmla="val 10000"/>
            </a:avLst>
          </a:prstGeom>
          <a:solidFill>
            <a:srgbClr val="FFF1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010912"/>
            <a:ext cx="10652760" cy="758952"/>
          </a:xfrm>
          <a:prstGeom prst="rect">
            <a:avLst/>
          </a:prstGeom>
          <a:noFill/>
        </p:spPr>
        <p:txBody>
          <a:bodyPr wrap="square" lIns="13716" rIns="13716" tIns="9144" bIns="9144">
            <a:spAutoFit/>
          </a:bodyPr>
          <a:lstStyle/>
          <a:p>
            <a:pPr>
              <a:spcAft>
                <a:spcPts val="800"/>
              </a:spcAft>
              <a:defRPr sz="1900" b="0">
                <a:solidFill>
                  <a:srgbClr val="142D42"/>
                </a:solidFill>
                <a:latin typeface="DejaVu Sans"/>
              </a:defRPr>
            </a:pPr>
            <a:r>
              <a:t>P99 ist eine Kalibrierungsregel – nicht 99 % Erkennungsgenauigkeit.</a:t>
            </a:r>
          </a:p>
          <a:p>
            <a:pPr>
              <a:spcAft>
                <a:spcPts val="800"/>
              </a:spcAft>
              <a:defRPr sz="1900" b="0">
                <a:solidFill>
                  <a:srgbClr val="142D42"/>
                </a:solidFill>
                <a:latin typeface="DejaVu Sans"/>
              </a:defRPr>
            </a:pPr>
            <a:r>
              <a:t>Der endgültige Handyaufbau wurde noch nicht unabhängig validiert.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LIVE-BEOBACHTUNGEN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Alle drei Läufe zeigen zeitlich begrenzte Alarme</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Getrennte Anrufe. Grau: Freigabe bis Rückmeldung, nicht die gemessene Vibrationsdauer.</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03</a:t>
            </a:r>
          </a:p>
        </p:txBody>
      </p:sp>
      <p:pic>
        <p:nvPicPr>
          <p:cNvPr id="7" name="Picture 6" descr="live_scores.png"/>
          <p:cNvPicPr>
            <a:picLocks noChangeAspect="1"/>
          </p:cNvPicPr>
          <p:nvPr/>
        </p:nvPicPr>
        <p:blipFill>
          <a:blip r:embed="rId3"/>
          <a:stretch>
            <a:fillRect/>
          </a:stretch>
        </p:blipFill>
        <p:spPr>
          <a:xfrm>
            <a:off x="1442532" y="2139696"/>
            <a:ext cx="9276455" cy="3886200"/>
          </a:xfrm>
          <a:prstGeom prst="rect">
            <a:avLst/>
          </a:prstGeom>
        </p:spPr>
      </p:pic>
      <p:sp>
        <p:nvSpPr>
          <p:cNvPr id="8" name="TextBox 7"/>
          <p:cNvSpPr txBox="1"/>
          <p:nvPr/>
        </p:nvSpPr>
        <p:spPr>
          <a:xfrm>
            <a:off x="640080" y="6108192"/>
            <a:ext cx="10972800" cy="219456"/>
          </a:xfrm>
          <a:prstGeom prst="rect">
            <a:avLst/>
          </a:prstGeom>
          <a:noFill/>
        </p:spPr>
        <p:txBody>
          <a:bodyPr wrap="square" lIns="13716" rIns="13716" tIns="9144" bIns="9144">
            <a:spAutoFit/>
          </a:bodyPr>
          <a:lstStyle/>
          <a:p>
            <a:pPr>
              <a:spcAft>
                <a:spcPts val="800"/>
              </a:spcAft>
              <a:defRPr sz="1200" b="0">
                <a:solidFill>
                  <a:srgbClr val="587084"/>
                </a:solidFill>
                <a:latin typeface="DejaVu Sans"/>
              </a:defRPr>
            </a:pPr>
            <a:r>
              <a:t>Unterschiedliche Zeitachsen und Anrufverzögerungen erlauben keine Live-Geschwindigkeitsrangfolge.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IDENTISCHE DATEN FÜR ALLE</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Wer meldet zuerst auf denselben Daten?</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Jede gespeicherte Aufnahme wurde unverändert durch alle drei Methoden ausgewertet. Zahl im Punkt = Rang.</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04</a:t>
            </a:r>
          </a:p>
        </p:txBody>
      </p:sp>
      <p:pic>
        <p:nvPicPr>
          <p:cNvPr id="7" name="Picture 6" descr="first_alarm_ranks.png"/>
          <p:cNvPicPr>
            <a:picLocks noChangeAspect="1"/>
          </p:cNvPicPr>
          <p:nvPr/>
        </p:nvPicPr>
        <p:blipFill>
          <a:blip r:embed="rId3"/>
          <a:stretch>
            <a:fillRect/>
          </a:stretch>
        </p:blipFill>
        <p:spPr>
          <a:xfrm>
            <a:off x="548640" y="2535925"/>
            <a:ext cx="11064240" cy="2920005"/>
          </a:xfrm>
          <a:prstGeom prst="rect">
            <a:avLst/>
          </a:prstGeom>
        </p:spPr>
      </p:pic>
      <p:sp>
        <p:nvSpPr>
          <p:cNvPr id="8" name="TextBox 7"/>
          <p:cNvSpPr txBox="1"/>
          <p:nvPr/>
        </p:nvSpPr>
        <p:spPr>
          <a:xfrm>
            <a:off x="685800" y="5733288"/>
            <a:ext cx="10835640" cy="493776"/>
          </a:xfrm>
          <a:prstGeom prst="rect">
            <a:avLst/>
          </a:prstGeom>
          <a:noFill/>
        </p:spPr>
        <p:txBody>
          <a:bodyPr wrap="square" lIns="13716" rIns="13716" tIns="9144" bIns="9144">
            <a:spAutoFit/>
          </a:bodyPr>
          <a:lstStyle/>
          <a:p>
            <a:pPr>
              <a:spcAft>
                <a:spcPts val="800"/>
              </a:spcAft>
              <a:defRPr sz="1900" b="1">
                <a:solidFill>
                  <a:srgbClr val="007F86"/>
                </a:solidFill>
                <a:latin typeface="DejaVu Sans"/>
              </a:defRPr>
            </a:pPr>
            <a:r>
              <a:t>A und C: Gleichstand. B: Autoencoder ein Fenster früher. Keine allgemeine Sieger-Rangliste.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ALARMHÄUFIGKEIT RICHTIG LESEN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Mehr Alarmfenster bedeuten nicht mehr Treffer</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Links: ursprüngliche Live-Läufe. Rechts: alle drei Methoden auf jeder identischen Rohaufnahme.</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05</a:t>
            </a:r>
          </a:p>
        </p:txBody>
      </p:sp>
      <p:pic>
        <p:nvPicPr>
          <p:cNvPr id="7" name="Picture 6" descr="alarm_counts.png"/>
          <p:cNvPicPr>
            <a:picLocks noChangeAspect="1"/>
          </p:cNvPicPr>
          <p:nvPr/>
        </p:nvPicPr>
        <p:blipFill>
          <a:blip r:embed="rId3"/>
          <a:stretch>
            <a:fillRect/>
          </a:stretch>
        </p:blipFill>
        <p:spPr>
          <a:xfrm>
            <a:off x="548640" y="2454753"/>
            <a:ext cx="11064240" cy="3045773"/>
          </a:xfrm>
          <a:prstGeom prst="rect">
            <a:avLst/>
          </a:prstGeom>
        </p:spPr>
      </p:pic>
      <p:sp>
        <p:nvSpPr>
          <p:cNvPr id="8" name="TextBox 7"/>
          <p:cNvSpPr txBox="1"/>
          <p:nvPr/>
        </p:nvSpPr>
        <p:spPr>
          <a:xfrm>
            <a:off x="640080" y="5742432"/>
            <a:ext cx="10927080" cy="457200"/>
          </a:xfrm>
          <a:prstGeom prst="rect">
            <a:avLst/>
          </a:prstGeom>
          <a:noFill/>
        </p:spPr>
        <p:txBody>
          <a:bodyPr wrap="square" lIns="13716" rIns="13716" tIns="9144" bIns="9144">
            <a:spAutoFit/>
          </a:bodyPr>
          <a:lstStyle/>
          <a:p>
            <a:pPr>
              <a:spcAft>
                <a:spcPts val="800"/>
              </a:spcAft>
              <a:defRPr sz="2000" b="1">
                <a:solidFill>
                  <a:srgbClr val="007F86"/>
                </a:solidFill>
                <a:latin typeface="DejaVu Sans"/>
              </a:defRPr>
            </a:pPr>
            <a:r>
              <a:t>Ein Anruf = ein Versuch. 11 Alarmfenster sind nicht 11 unabhängig erkannte Fehler.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BERECHNUNGSAUFWAND</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RMS rechnet am kürzesten, IF deutlich länger</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Beobachtete Berechnungszeit im jeweiligen Live-Prozess; keine physische Fehler-Erkennungsverzögerung.</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06</a:t>
            </a:r>
          </a:p>
        </p:txBody>
      </p:sp>
      <p:pic>
        <p:nvPicPr>
          <p:cNvPr id="7" name="Picture 6" descr="processing.png"/>
          <p:cNvPicPr>
            <a:picLocks noChangeAspect="1"/>
          </p:cNvPicPr>
          <p:nvPr/>
        </p:nvPicPr>
        <p:blipFill>
          <a:blip r:embed="rId3"/>
          <a:stretch>
            <a:fillRect/>
          </a:stretch>
        </p:blipFill>
        <p:spPr>
          <a:xfrm>
            <a:off x="548640" y="2472247"/>
            <a:ext cx="11064240" cy="3010785"/>
          </a:xfrm>
          <a:prstGeom prst="rect">
            <a:avLst/>
          </a:prstGeom>
        </p:spPr>
      </p:pic>
      <p:sp>
        <p:nvSpPr>
          <p:cNvPr id="8" name="TextBox 7"/>
          <p:cNvSpPr txBox="1"/>
          <p:nvPr/>
        </p:nvSpPr>
        <p:spPr>
          <a:xfrm>
            <a:off x="685800" y="5705856"/>
            <a:ext cx="10789920" cy="530352"/>
          </a:xfrm>
          <a:prstGeom prst="rect">
            <a:avLst/>
          </a:prstGeom>
          <a:noFill/>
        </p:spPr>
        <p:txBody>
          <a:bodyPr wrap="square" lIns="13716" rIns="13716" tIns="9144" bIns="9144">
            <a:spAutoFit/>
          </a:bodyPr>
          <a:lstStyle/>
          <a:p>
            <a:pPr>
              <a:spcAft>
                <a:spcPts val="800"/>
              </a:spcAft>
              <a:defRPr sz="1800" b="1">
                <a:solidFill>
                  <a:srgbClr val="007F86"/>
                </a:solidFill>
                <a:latin typeface="DejaVu Sans"/>
              </a:defRPr>
            </a:pPr>
            <a:r>
              <a:t>Entscheidend sind zwei Größen: wann die Schwelle überschritten wird – und wie lange die Rechnung dauert.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EINFLUSS AUF DEN RASPBERRY PI</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Isolation Forest beansprucht mehr Prozess-RAM</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Einzelbetrieb ohne Mess-GUI. CPU und RAM enthalten Sensorerfassung, Auswertung und Protokollierung.</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07</a:t>
            </a:r>
          </a:p>
        </p:txBody>
      </p:sp>
      <p:pic>
        <p:nvPicPr>
          <p:cNvPr id="7" name="Picture 6" descr="resources.png"/>
          <p:cNvPicPr>
            <a:picLocks noChangeAspect="1"/>
          </p:cNvPicPr>
          <p:nvPr/>
        </p:nvPicPr>
        <p:blipFill>
          <a:blip r:embed="rId3"/>
          <a:stretch>
            <a:fillRect/>
          </a:stretch>
        </p:blipFill>
        <p:spPr>
          <a:xfrm>
            <a:off x="548640" y="2426422"/>
            <a:ext cx="11064240" cy="3139011"/>
          </a:xfrm>
          <a:prstGeom prst="rect">
            <a:avLst/>
          </a:prstGeom>
        </p:spPr>
      </p:pic>
      <p:sp>
        <p:nvSpPr>
          <p:cNvPr id="8" name="TextBox 7"/>
          <p:cNvSpPr txBox="1"/>
          <p:nvPr/>
        </p:nvSpPr>
        <p:spPr>
          <a:xfrm>
            <a:off x="685800" y="5751576"/>
            <a:ext cx="10789920" cy="466344"/>
          </a:xfrm>
          <a:prstGeom prst="rect">
            <a:avLst/>
          </a:prstGeom>
          <a:noFill/>
        </p:spPr>
        <p:txBody>
          <a:bodyPr wrap="square" lIns="13716" rIns="13716" tIns="9144" bIns="9144">
            <a:spAutoFit/>
          </a:bodyPr>
          <a:lstStyle/>
          <a:p>
            <a:pPr>
              <a:spcAft>
                <a:spcPts val="800"/>
              </a:spcAft>
              <a:defRPr sz="1800" b="0">
                <a:solidFill>
                  <a:srgbClr val="587084"/>
                </a:solidFill>
                <a:latin typeface="DejaVu Sans"/>
              </a:defRPr>
            </a:pPr>
            <a:r>
              <a:t>Beobachtete Prozesswerte, kein isolierter Modell-Benchmark und keine Leistungsmessung in Watt.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DOKUMENTATION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Echte Screenshots der gespeicherten Berichte</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Drei Browser-Aufnahmen nach Messende; keine nachgebildete Live-GUI und kein Foto des Versuchsaufbaus.</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08</a:t>
            </a:r>
          </a:p>
        </p:txBody>
      </p:sp>
      <p:pic>
        <p:nvPicPr>
          <p:cNvPr id="7" name="Picture 6" descr="report.png"/>
          <p:cNvPicPr>
            <a:picLocks noChangeAspect="1"/>
          </p:cNvPicPr>
          <p:nvPr/>
        </p:nvPicPr>
        <p:blipFill>
          <a:blip r:embed="rId3"/>
          <a:stretch>
            <a:fillRect/>
          </a:stretch>
        </p:blipFill>
        <p:spPr>
          <a:xfrm>
            <a:off x="1459992" y="2121408"/>
            <a:ext cx="5401056" cy="4050791"/>
          </a:xfrm>
          <a:prstGeom prst="rect">
            <a:avLst/>
          </a:prstGeom>
        </p:spPr>
      </p:pic>
      <p:sp>
        <p:nvSpPr>
          <p:cNvPr id="8" name="Rounded Rectangle 7"/>
          <p:cNvSpPr/>
          <p:nvPr/>
        </p:nvSpPr>
        <p:spPr>
          <a:xfrm>
            <a:off x="8046720" y="2468880"/>
            <a:ext cx="3621024"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6175" y="2715768"/>
            <a:ext cx="3182112" cy="365760"/>
          </a:xfrm>
          <a:prstGeom prst="rect">
            <a:avLst/>
          </a:prstGeom>
          <a:noFill/>
        </p:spPr>
        <p:txBody>
          <a:bodyPr wrap="square" lIns="13716" rIns="13716" tIns="9144" bIns="9144">
            <a:spAutoFit/>
          </a:bodyPr>
          <a:lstStyle/>
          <a:p>
            <a:pPr>
              <a:spcAft>
                <a:spcPts val="800"/>
              </a:spcAft>
              <a:defRPr sz="2100" b="1">
                <a:solidFill>
                  <a:srgbClr val="142D42"/>
                </a:solidFill>
                <a:latin typeface="DejaVu Sans"/>
              </a:defRPr>
            </a:pPr>
            <a:r>
              <a:t>Für jede Methode</a:t>
            </a:r>
          </a:p>
        </p:txBody>
      </p:sp>
      <p:sp>
        <p:nvSpPr>
          <p:cNvPr id="10" name="TextBox 9"/>
          <p:cNvSpPr txBox="1"/>
          <p:nvPr/>
        </p:nvSpPr>
        <p:spPr>
          <a:xfrm>
            <a:off x="8266175" y="3310128"/>
            <a:ext cx="3136392" cy="2103120"/>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Rohdaten und Scores</a:t>
            </a:r>
          </a:p>
          <a:p>
            <a:pPr>
              <a:spcAft>
                <a:spcPts val="800"/>
              </a:spcAft>
              <a:defRPr sz="1600" b="0">
                <a:solidFill>
                  <a:srgbClr val="142D42"/>
                </a:solidFill>
                <a:latin typeface="DejaVu Sans"/>
              </a:defRPr>
            </a:pPr>
            <a:r>
              <a:t>CPU / RAM / Takt</a:t>
            </a:r>
          </a:p>
          <a:p>
            <a:pPr>
              <a:spcAft>
                <a:spcPts val="800"/>
              </a:spcAft>
              <a:defRPr sz="1600" b="0">
                <a:solidFill>
                  <a:srgbClr val="142D42"/>
                </a:solidFill>
                <a:latin typeface="DejaVu Sans"/>
              </a:defRPr>
            </a:pPr>
            <a:r>
              <a:t>PNG- und PDF-Diagramme</a:t>
            </a:r>
          </a:p>
          <a:p>
            <a:pPr>
              <a:spcAft>
                <a:spcPts val="800"/>
              </a:spcAft>
              <a:defRPr sz="1600" b="0">
                <a:solidFill>
                  <a:srgbClr val="142D42"/>
                </a:solidFill>
                <a:latin typeface="DejaVu Sans"/>
              </a:defRPr>
            </a:pPr>
            <a:r>
              <a:t>Browser-Screenshot</a:t>
            </a:r>
          </a:p>
          <a:p>
            <a:pPr>
              <a:spcAft>
                <a:spcPts val="800"/>
              </a:spcAft>
              <a:defRPr sz="1600" b="0">
                <a:solidFill>
                  <a:srgbClr val="142D42"/>
                </a:solidFill>
                <a:latin typeface="DejaVu Sans"/>
              </a:defRPr>
            </a:pPr>
            <a:r>
              <a:t>Zeitmarken und SHA-256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TRANSPARENZ UND GRENZEN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Pilotbefund – noch kein Zuverlässigkeitsnachweis</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Drei ausgewählte Läufe; drei frühere Anläufe wegen unklarer Anrufkoordination separat archiviert.</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09</a:t>
            </a:r>
          </a:p>
        </p:txBody>
      </p:sp>
      <p:sp>
        <p:nvSpPr>
          <p:cNvPr id="7" name="Rounded Rectangle 6"/>
          <p:cNvSpPr/>
          <p:nvPr/>
        </p:nvSpPr>
        <p:spPr>
          <a:xfrm>
            <a:off x="548640" y="2377440"/>
            <a:ext cx="11064240" cy="667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505456"/>
            <a:ext cx="2560320" cy="356616"/>
          </a:xfrm>
          <a:prstGeom prst="rect">
            <a:avLst/>
          </a:prstGeom>
          <a:noFill/>
        </p:spPr>
        <p:txBody>
          <a:bodyPr wrap="square" lIns="13716" rIns="13716" tIns="9144" bIns="9144">
            <a:spAutoFit/>
          </a:bodyPr>
          <a:lstStyle/>
          <a:p>
            <a:pPr>
              <a:spcAft>
                <a:spcPts val="800"/>
              </a:spcAft>
              <a:defRPr sz="1800" b="1">
                <a:solidFill>
                  <a:srgbClr val="AB5E06"/>
                </a:solidFill>
                <a:latin typeface="DejaVu Sans"/>
              </a:defRPr>
            </a:pPr>
            <a:r>
              <a:t>Zeitreferenz</a:t>
            </a:r>
          </a:p>
        </p:txBody>
      </p:sp>
      <p:sp>
        <p:nvSpPr>
          <p:cNvPr id="9" name="TextBox 8"/>
          <p:cNvSpPr txBox="1"/>
          <p:nvPr/>
        </p:nvSpPr>
        <p:spPr>
          <a:xfrm>
            <a:off x="3566160" y="2523744"/>
            <a:ext cx="7726679" cy="347472"/>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Physischer Beginn und tatsächliche Vibrationsdauer fehlen.</a:t>
            </a:r>
          </a:p>
        </p:txBody>
      </p:sp>
      <p:sp>
        <p:nvSpPr>
          <p:cNvPr id="10" name="Rounded Rectangle 9"/>
          <p:cNvSpPr/>
          <p:nvPr/>
        </p:nvSpPr>
        <p:spPr>
          <a:xfrm>
            <a:off x="548640" y="3209544"/>
            <a:ext cx="11064240" cy="667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337560"/>
            <a:ext cx="2560320" cy="356616"/>
          </a:xfrm>
          <a:prstGeom prst="rect">
            <a:avLst/>
          </a:prstGeom>
          <a:noFill/>
        </p:spPr>
        <p:txBody>
          <a:bodyPr wrap="square" lIns="13716" rIns="13716" tIns="9144" bIns="9144">
            <a:spAutoFit/>
          </a:bodyPr>
          <a:lstStyle/>
          <a:p>
            <a:pPr>
              <a:spcAft>
                <a:spcPts val="800"/>
              </a:spcAft>
              <a:defRPr sz="1800" b="1">
                <a:solidFill>
                  <a:srgbClr val="AB5E06"/>
                </a:solidFill>
                <a:latin typeface="DejaVu Sans"/>
              </a:defRPr>
            </a:pPr>
            <a:r>
              <a:t>Übertragbarkeit</a:t>
            </a:r>
          </a:p>
        </p:txBody>
      </p:sp>
      <p:sp>
        <p:nvSpPr>
          <p:cNvPr id="12" name="TextBox 11"/>
          <p:cNvSpPr txBox="1"/>
          <p:nvPr/>
        </p:nvSpPr>
        <p:spPr>
          <a:xfrm>
            <a:off x="3566160" y="3355848"/>
            <a:ext cx="7726679" cy="347472"/>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Ein Anruf je Methode; kein echter Lüfterdefekt getestet.</a:t>
            </a:r>
          </a:p>
        </p:txBody>
      </p:sp>
      <p:sp>
        <p:nvSpPr>
          <p:cNvPr id="13" name="Rounded Rectangle 12"/>
          <p:cNvSpPr/>
          <p:nvPr/>
        </p:nvSpPr>
        <p:spPr>
          <a:xfrm>
            <a:off x="548640" y="4041648"/>
            <a:ext cx="11064240" cy="667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169663"/>
            <a:ext cx="2560320" cy="356616"/>
          </a:xfrm>
          <a:prstGeom prst="rect">
            <a:avLst/>
          </a:prstGeom>
          <a:noFill/>
        </p:spPr>
        <p:txBody>
          <a:bodyPr wrap="square" lIns="13716" rIns="13716" tIns="9144" bIns="9144">
            <a:spAutoFit/>
          </a:bodyPr>
          <a:lstStyle/>
          <a:p>
            <a:pPr>
              <a:spcAft>
                <a:spcPts val="800"/>
              </a:spcAft>
              <a:defRPr sz="1800" b="1">
                <a:solidFill>
                  <a:srgbClr val="AB5E06"/>
                </a:solidFill>
                <a:latin typeface="DejaVu Sans"/>
              </a:defRPr>
            </a:pPr>
            <a:r>
              <a:t>Kalibrierung</a:t>
            </a:r>
          </a:p>
        </p:txBody>
      </p:sp>
      <p:sp>
        <p:nvSpPr>
          <p:cNvPr id="15" name="TextBox 14"/>
          <p:cNvSpPr txBox="1"/>
          <p:nvPr/>
        </p:nvSpPr>
        <p:spPr>
          <a:xfrm>
            <a:off x="3566160" y="4187952"/>
            <a:ext cx="7726679" cy="347472"/>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Finaler Handyaufbau nicht verifiziert; Schwellen unverändert.</a:t>
            </a:r>
          </a:p>
        </p:txBody>
      </p:sp>
      <p:sp>
        <p:nvSpPr>
          <p:cNvPr id="16" name="Rounded Rectangle 15"/>
          <p:cNvSpPr/>
          <p:nvPr/>
        </p:nvSpPr>
        <p:spPr>
          <a:xfrm>
            <a:off x="548640" y="4873752"/>
            <a:ext cx="11064240" cy="667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001768"/>
            <a:ext cx="2560320" cy="356616"/>
          </a:xfrm>
          <a:prstGeom prst="rect">
            <a:avLst/>
          </a:prstGeom>
          <a:noFill/>
        </p:spPr>
        <p:txBody>
          <a:bodyPr wrap="square" lIns="13716" rIns="13716" tIns="9144" bIns="9144">
            <a:spAutoFit/>
          </a:bodyPr>
          <a:lstStyle/>
          <a:p>
            <a:pPr>
              <a:spcAft>
                <a:spcPts val="800"/>
              </a:spcAft>
              <a:defRPr sz="1800" b="1">
                <a:solidFill>
                  <a:srgbClr val="AB5E06"/>
                </a:solidFill>
                <a:latin typeface="DejaVu Sans"/>
              </a:defRPr>
            </a:pPr>
            <a:r>
              <a:t>Versuchsauswahl</a:t>
            </a:r>
          </a:p>
        </p:txBody>
      </p:sp>
      <p:sp>
        <p:nvSpPr>
          <p:cNvPr id="18" name="TextBox 17"/>
          <p:cNvSpPr txBox="1"/>
          <p:nvPr/>
        </p:nvSpPr>
        <p:spPr>
          <a:xfrm>
            <a:off x="3566160" y="5020056"/>
            <a:ext cx="7726679" cy="347472"/>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Neustarts erhalten; Ressourcen ohne Wiederholungen.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FAZIT FÜR DIE BESPRECHUNG</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Erste Ergebnisse sind da – die Grenzen sind klar</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Funktionsnachweis, fairer Fenstervergleich und Prozesslast können getrennt diskutiert werden.</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10</a:t>
            </a:r>
          </a:p>
        </p:txBody>
      </p:sp>
      <p:sp>
        <p:nvSpPr>
          <p:cNvPr id="7" name="Rounded Rectangle 6"/>
          <p:cNvSpPr/>
          <p:nvPr/>
        </p:nvSpPr>
        <p:spPr>
          <a:xfrm>
            <a:off x="548640" y="2331720"/>
            <a:ext cx="5486400" cy="3520440"/>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63640" y="2331720"/>
            <a:ext cx="5394960" cy="3520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96896"/>
            <a:ext cx="4937760" cy="411480"/>
          </a:xfrm>
          <a:prstGeom prst="rect">
            <a:avLst/>
          </a:prstGeom>
          <a:noFill/>
        </p:spPr>
        <p:txBody>
          <a:bodyPr wrap="square" lIns="13716" rIns="13716" tIns="9144" bIns="9144">
            <a:spAutoFit/>
          </a:bodyPr>
          <a:lstStyle/>
          <a:p>
            <a:pPr>
              <a:spcAft>
                <a:spcPts val="800"/>
              </a:spcAft>
              <a:defRPr sz="2300" b="1">
                <a:solidFill>
                  <a:srgbClr val="007F86"/>
                </a:solidFill>
                <a:latin typeface="DejaVu Sans"/>
              </a:defRPr>
            </a:pPr>
            <a:r>
              <a:t>Heute belegt</a:t>
            </a:r>
          </a:p>
        </p:txBody>
      </p:sp>
      <p:sp>
        <p:nvSpPr>
          <p:cNvPr id="10" name="TextBox 9"/>
          <p:cNvSpPr txBox="1"/>
          <p:nvPr/>
        </p:nvSpPr>
        <p:spPr>
          <a:xfrm>
            <a:off x="822960" y="3310128"/>
            <a:ext cx="4892040" cy="1965960"/>
          </a:xfrm>
          <a:prstGeom prst="rect">
            <a:avLst/>
          </a:prstGeom>
          <a:noFill/>
        </p:spPr>
        <p:txBody>
          <a:bodyPr wrap="square" lIns="13716" rIns="13716" tIns="9144" bIns="9144">
            <a:spAutoFit/>
          </a:bodyPr>
          <a:lstStyle/>
          <a:p>
            <a:pPr>
              <a:spcAft>
                <a:spcPts val="800"/>
              </a:spcAft>
              <a:defRPr sz="1900" b="0">
                <a:solidFill>
                  <a:srgbClr val="142D42"/>
                </a:solidFill>
                <a:latin typeface="DejaVu Sans"/>
              </a:defRPr>
            </a:pPr>
            <a:r>
              <a:t>Live-Aufzeichnung funktioniert.</a:t>
            </a:r>
          </a:p>
          <a:p>
            <a:pPr>
              <a:spcAft>
                <a:spcPts val="800"/>
              </a:spcAft>
              <a:defRPr sz="1900" b="0">
                <a:solidFill>
                  <a:srgbClr val="142D42"/>
                </a:solidFill>
                <a:latin typeface="DejaVu Sans"/>
              </a:defRPr>
            </a:pPr>
            <a:r>
              <a:t>Vergleich auf gleichen Rohfenstern.</a:t>
            </a:r>
          </a:p>
          <a:p>
            <a:pPr>
              <a:spcAft>
                <a:spcPts val="800"/>
              </a:spcAft>
              <a:defRPr sz="1900" b="0">
                <a:solidFill>
                  <a:srgbClr val="142D42"/>
                </a:solidFill>
                <a:latin typeface="DejaVu Sans"/>
              </a:defRPr>
            </a:pPr>
            <a:r>
              <a:t>Prozesslast ist protokolliert.</a:t>
            </a:r>
          </a:p>
          <a:p>
            <a:pPr>
              <a:spcAft>
                <a:spcPts val="800"/>
              </a:spcAft>
              <a:defRPr sz="1900" b="0">
                <a:solidFill>
                  <a:srgbClr val="142D42"/>
                </a:solidFill>
                <a:latin typeface="DejaVu Sans"/>
              </a:defRPr>
            </a:pPr>
            <a:r>
              <a:t>Ergebnisse sind nachprüfbar.</a:t>
            </a:r>
          </a:p>
        </p:txBody>
      </p:sp>
      <p:sp>
        <p:nvSpPr>
          <p:cNvPr id="11" name="TextBox 10"/>
          <p:cNvSpPr txBox="1"/>
          <p:nvPr/>
        </p:nvSpPr>
        <p:spPr>
          <a:xfrm>
            <a:off x="6528816" y="2596896"/>
            <a:ext cx="4873752" cy="411480"/>
          </a:xfrm>
          <a:prstGeom prst="rect">
            <a:avLst/>
          </a:prstGeom>
          <a:noFill/>
        </p:spPr>
        <p:txBody>
          <a:bodyPr wrap="square" lIns="13716" rIns="13716" tIns="9144" bIns="9144">
            <a:spAutoFit/>
          </a:bodyPr>
          <a:lstStyle/>
          <a:p>
            <a:pPr>
              <a:spcAft>
                <a:spcPts val="800"/>
              </a:spcAft>
              <a:defRPr sz="2300" b="1">
                <a:solidFill>
                  <a:srgbClr val="142D42"/>
                </a:solidFill>
                <a:latin typeface="DejaVu Sans"/>
              </a:defRPr>
            </a:pPr>
            <a:r>
              <a:t>Für belastbare Aussagen</a:t>
            </a:r>
          </a:p>
        </p:txBody>
      </p:sp>
      <p:sp>
        <p:nvSpPr>
          <p:cNvPr id="12" name="TextBox 11"/>
          <p:cNvSpPr txBox="1"/>
          <p:nvPr/>
        </p:nvSpPr>
        <p:spPr>
          <a:xfrm>
            <a:off x="6528816" y="3310128"/>
            <a:ext cx="4837176" cy="1965960"/>
          </a:xfrm>
          <a:prstGeom prst="rect">
            <a:avLst/>
          </a:prstGeom>
          <a:noFill/>
        </p:spPr>
        <p:txBody>
          <a:bodyPr wrap="square" lIns="13716" rIns="13716" tIns="9144" bIns="9144">
            <a:spAutoFit/>
          </a:bodyPr>
          <a:lstStyle/>
          <a:p>
            <a:pPr>
              <a:spcAft>
                <a:spcPts val="800"/>
              </a:spcAft>
              <a:defRPr sz="1900" b="0">
                <a:solidFill>
                  <a:srgbClr val="142D42"/>
                </a:solidFill>
                <a:latin typeface="DejaVu Sans"/>
              </a:defRPr>
            </a:pPr>
            <a:r>
              <a:t>Aufbau / Normalzustand validieren.</a:t>
            </a:r>
          </a:p>
          <a:p>
            <a:pPr>
              <a:spcAft>
                <a:spcPts val="800"/>
              </a:spcAft>
              <a:defRPr sz="1900" b="0">
                <a:solidFill>
                  <a:srgbClr val="142D42"/>
                </a:solidFill>
                <a:latin typeface="DejaVu Sans"/>
              </a:defRPr>
            </a:pPr>
            <a:r>
              <a:t>Physischen Beginn messen.</a:t>
            </a:r>
          </a:p>
          <a:p>
            <a:pPr>
              <a:spcAft>
                <a:spcPts val="800"/>
              </a:spcAft>
              <a:defRPr sz="1900" b="0">
                <a:solidFill>
                  <a:srgbClr val="142D42"/>
                </a:solidFill>
                <a:latin typeface="DejaVu Sans"/>
              </a:defRPr>
            </a:pPr>
            <a:r>
              <a:t>Mehrere Ereignisse wiederholen.</a:t>
            </a:r>
          </a:p>
          <a:p>
            <a:pPr>
              <a:spcAft>
                <a:spcPts val="800"/>
              </a:spcAft>
              <a:defRPr sz="1900" b="0">
                <a:solidFill>
                  <a:srgbClr val="142D42"/>
                </a:solidFill>
                <a:latin typeface="DejaVu Sans"/>
              </a:defRPr>
            </a:pPr>
            <a:r>
              <a:t>Ressourcen kontrolliert testen.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Handyvibration: Pilotergebnisse und fairer Fenstervergleich</dc:title>
  <dc:subject>Drei Live-Einzelaufnahmen, identische Rohdaten im Replay, Ressourcen und Grenzen</dc:subject>
  <dc:creator>Masterarbeit Edge AI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